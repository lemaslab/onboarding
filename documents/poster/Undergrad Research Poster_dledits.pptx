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260" r:id="rId2"/>
  </p:sldIdLst>
  <p:sldSz cx="43891200" cy="32918400"/>
  <p:notesSz cx="9309100" cy="7023100"/>
  <p:defaultTextStyle>
    <a:defPPr>
      <a:defRPr lang="en-US"/>
    </a:defPPr>
    <a:lvl1pPr algn="l" rtl="0" fontAlgn="base">
      <a:spcBef>
        <a:spcPct val="0"/>
      </a:spcBef>
      <a:spcAft>
        <a:spcPct val="0"/>
      </a:spcAft>
      <a:defRPr sz="2400" kern="1200">
        <a:solidFill>
          <a:schemeClr val="tx1"/>
        </a:solidFill>
        <a:latin typeface="Times New Roman" charset="0"/>
        <a:ea typeface="ＭＳ Ｐゴシック" charset="0"/>
        <a:cs typeface="+mn-cs"/>
      </a:defRPr>
    </a:lvl1pPr>
    <a:lvl2pPr marL="457200" algn="l" rtl="0" fontAlgn="base">
      <a:spcBef>
        <a:spcPct val="0"/>
      </a:spcBef>
      <a:spcAft>
        <a:spcPct val="0"/>
      </a:spcAft>
      <a:defRPr sz="2400" kern="1200">
        <a:solidFill>
          <a:schemeClr val="tx1"/>
        </a:solidFill>
        <a:latin typeface="Times New Roman" charset="0"/>
        <a:ea typeface="ＭＳ Ｐゴシック" charset="0"/>
        <a:cs typeface="+mn-cs"/>
      </a:defRPr>
    </a:lvl2pPr>
    <a:lvl3pPr marL="914400" algn="l" rtl="0" fontAlgn="base">
      <a:spcBef>
        <a:spcPct val="0"/>
      </a:spcBef>
      <a:spcAft>
        <a:spcPct val="0"/>
      </a:spcAft>
      <a:defRPr sz="2400" kern="1200">
        <a:solidFill>
          <a:schemeClr val="tx1"/>
        </a:solidFill>
        <a:latin typeface="Times New Roman" charset="0"/>
        <a:ea typeface="ＭＳ Ｐゴシック" charset="0"/>
        <a:cs typeface="+mn-cs"/>
      </a:defRPr>
    </a:lvl3pPr>
    <a:lvl4pPr marL="1371600" algn="l" rtl="0" fontAlgn="base">
      <a:spcBef>
        <a:spcPct val="0"/>
      </a:spcBef>
      <a:spcAft>
        <a:spcPct val="0"/>
      </a:spcAft>
      <a:defRPr sz="2400" kern="1200">
        <a:solidFill>
          <a:schemeClr val="tx1"/>
        </a:solidFill>
        <a:latin typeface="Times New Roman" charset="0"/>
        <a:ea typeface="ＭＳ Ｐゴシック" charset="0"/>
        <a:cs typeface="+mn-cs"/>
      </a:defRPr>
    </a:lvl4pPr>
    <a:lvl5pPr marL="1828800" algn="l" rtl="0" fontAlgn="base">
      <a:spcBef>
        <a:spcPct val="0"/>
      </a:spcBef>
      <a:spcAft>
        <a:spcPct val="0"/>
      </a:spcAft>
      <a:defRPr sz="2400" kern="1200">
        <a:solidFill>
          <a:schemeClr val="tx1"/>
        </a:solidFill>
        <a:latin typeface="Times New Roman" charset="0"/>
        <a:ea typeface="ＭＳ Ｐゴシック" charset="0"/>
        <a:cs typeface="+mn-cs"/>
      </a:defRPr>
    </a:lvl5pPr>
    <a:lvl6pPr marL="2286000" algn="l" defTabSz="457200" rtl="0" eaLnBrk="1" latinLnBrk="0" hangingPunct="1">
      <a:defRPr sz="2400" kern="1200">
        <a:solidFill>
          <a:schemeClr val="tx1"/>
        </a:solidFill>
        <a:latin typeface="Times New Roman" charset="0"/>
        <a:ea typeface="ＭＳ Ｐゴシック" charset="0"/>
        <a:cs typeface="+mn-cs"/>
      </a:defRPr>
    </a:lvl6pPr>
    <a:lvl7pPr marL="2743200" algn="l" defTabSz="457200" rtl="0" eaLnBrk="1" latinLnBrk="0" hangingPunct="1">
      <a:defRPr sz="2400" kern="1200">
        <a:solidFill>
          <a:schemeClr val="tx1"/>
        </a:solidFill>
        <a:latin typeface="Times New Roman" charset="0"/>
        <a:ea typeface="ＭＳ Ｐゴシック" charset="0"/>
        <a:cs typeface="+mn-cs"/>
      </a:defRPr>
    </a:lvl7pPr>
    <a:lvl8pPr marL="3200400" algn="l" defTabSz="457200" rtl="0" eaLnBrk="1" latinLnBrk="0" hangingPunct="1">
      <a:defRPr sz="2400" kern="1200">
        <a:solidFill>
          <a:schemeClr val="tx1"/>
        </a:solidFill>
        <a:latin typeface="Times New Roman" charset="0"/>
        <a:ea typeface="ＭＳ Ｐゴシック" charset="0"/>
        <a:cs typeface="+mn-cs"/>
      </a:defRPr>
    </a:lvl8pPr>
    <a:lvl9pPr marL="3657600" algn="l" defTabSz="457200" rtl="0" eaLnBrk="1" latinLnBrk="0" hangingPunct="1">
      <a:defRPr sz="2400" kern="1200">
        <a:solidFill>
          <a:schemeClr val="tx1"/>
        </a:solidFill>
        <a:latin typeface="Times New Roman" charset="0"/>
        <a:ea typeface="ＭＳ Ｐゴシック" charset="0"/>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errence-kominsky" initials="t" lastIdx="3" clrIdx="0"/>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6600"/>
    <a:srgbClr val="66CCFF"/>
    <a:srgbClr val="F9CD75"/>
    <a:srgbClr val="162C55"/>
    <a:srgbClr val="005596"/>
    <a:srgbClr val="000099"/>
    <a:srgbClr val="6D9AC3"/>
    <a:srgbClr val="F36F21"/>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66"/>
    <p:restoredTop sz="94710"/>
  </p:normalViewPr>
  <p:slideViewPr>
    <p:cSldViewPr snapToGrid="0">
      <p:cViewPr varScale="1">
        <p:scale>
          <a:sx n="31" d="100"/>
          <a:sy n="31" d="100"/>
        </p:scale>
        <p:origin x="1664" y="256"/>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33943" cy="351155"/>
          </a:xfrm>
          <a:prstGeom prst="rect">
            <a:avLst/>
          </a:prstGeom>
        </p:spPr>
        <p:txBody>
          <a:bodyPr vert="horz" lIns="93311" tIns="46656" rIns="93311" bIns="46656" rtlCol="0"/>
          <a:lstStyle>
            <a:lvl1pPr algn="l">
              <a:defRPr sz="1200"/>
            </a:lvl1pPr>
          </a:lstStyle>
          <a:p>
            <a:endParaRPr lang="en-US"/>
          </a:p>
        </p:txBody>
      </p:sp>
      <p:sp>
        <p:nvSpPr>
          <p:cNvPr id="3" name="Date Placeholder 2"/>
          <p:cNvSpPr>
            <a:spLocks noGrp="1"/>
          </p:cNvSpPr>
          <p:nvPr>
            <p:ph type="dt" sz="quarter" idx="1"/>
          </p:nvPr>
        </p:nvSpPr>
        <p:spPr>
          <a:xfrm>
            <a:off x="5273002" y="0"/>
            <a:ext cx="4033943" cy="351155"/>
          </a:xfrm>
          <a:prstGeom prst="rect">
            <a:avLst/>
          </a:prstGeom>
        </p:spPr>
        <p:txBody>
          <a:bodyPr vert="horz" lIns="93311" tIns="46656" rIns="93311" bIns="46656" rtlCol="0"/>
          <a:lstStyle>
            <a:lvl1pPr algn="r">
              <a:defRPr sz="1200"/>
            </a:lvl1pPr>
          </a:lstStyle>
          <a:p>
            <a:fld id="{824A6E73-D5B5-284E-A368-1D68D70AD081}" type="datetimeFigureOut">
              <a:rPr lang="en-US" smtClean="0"/>
              <a:t>12/8/25</a:t>
            </a:fld>
            <a:endParaRPr lang="en-US"/>
          </a:p>
        </p:txBody>
      </p:sp>
      <p:sp>
        <p:nvSpPr>
          <p:cNvPr id="4" name="Footer Placeholder 3"/>
          <p:cNvSpPr>
            <a:spLocks noGrp="1"/>
          </p:cNvSpPr>
          <p:nvPr>
            <p:ph type="ftr" sz="quarter" idx="2"/>
          </p:nvPr>
        </p:nvSpPr>
        <p:spPr>
          <a:xfrm>
            <a:off x="0" y="6670727"/>
            <a:ext cx="4033943" cy="351155"/>
          </a:xfrm>
          <a:prstGeom prst="rect">
            <a:avLst/>
          </a:prstGeom>
        </p:spPr>
        <p:txBody>
          <a:bodyPr vert="horz" lIns="93311" tIns="46656" rIns="93311" bIns="46656" rtlCol="0" anchor="b"/>
          <a:lstStyle>
            <a:lvl1pPr algn="l">
              <a:defRPr sz="1200"/>
            </a:lvl1pPr>
          </a:lstStyle>
          <a:p>
            <a:endParaRPr lang="en-US"/>
          </a:p>
        </p:txBody>
      </p:sp>
      <p:sp>
        <p:nvSpPr>
          <p:cNvPr id="5" name="Slide Number Placeholder 4"/>
          <p:cNvSpPr>
            <a:spLocks noGrp="1"/>
          </p:cNvSpPr>
          <p:nvPr>
            <p:ph type="sldNum" sz="quarter" idx="3"/>
          </p:nvPr>
        </p:nvSpPr>
        <p:spPr>
          <a:xfrm>
            <a:off x="5273002" y="6670727"/>
            <a:ext cx="4033943" cy="351155"/>
          </a:xfrm>
          <a:prstGeom prst="rect">
            <a:avLst/>
          </a:prstGeom>
        </p:spPr>
        <p:txBody>
          <a:bodyPr vert="horz" lIns="93311" tIns="46656" rIns="93311" bIns="46656" rtlCol="0" anchor="b"/>
          <a:lstStyle>
            <a:lvl1pPr algn="r">
              <a:defRPr sz="1200"/>
            </a:lvl1pPr>
          </a:lstStyle>
          <a:p>
            <a:fld id="{22FB357F-54EF-D94C-9EDC-3388E37F0F11}" type="slidenum">
              <a:rPr lang="en-US" smtClean="0"/>
              <a:t>‹#›</a:t>
            </a:fld>
            <a:endParaRPr lang="en-US"/>
          </a:p>
        </p:txBody>
      </p:sp>
    </p:spTree>
    <p:extLst>
      <p:ext uri="{BB962C8B-B14F-4D97-AF65-F5344CB8AC3E}">
        <p14:creationId xmlns:p14="http://schemas.microsoft.com/office/powerpoint/2010/main" val="3506466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33943" cy="351155"/>
          </a:xfrm>
          <a:prstGeom prst="rect">
            <a:avLst/>
          </a:prstGeom>
        </p:spPr>
        <p:txBody>
          <a:bodyPr vert="horz" lIns="93311" tIns="46656" rIns="93311" bIns="46656" rtlCol="0"/>
          <a:lstStyle>
            <a:lvl1pPr algn="l">
              <a:defRPr sz="1200"/>
            </a:lvl1pPr>
          </a:lstStyle>
          <a:p>
            <a:endParaRPr lang="en-US"/>
          </a:p>
        </p:txBody>
      </p:sp>
      <p:sp>
        <p:nvSpPr>
          <p:cNvPr id="3" name="Date Placeholder 2"/>
          <p:cNvSpPr>
            <a:spLocks noGrp="1"/>
          </p:cNvSpPr>
          <p:nvPr>
            <p:ph type="dt" idx="1"/>
          </p:nvPr>
        </p:nvSpPr>
        <p:spPr>
          <a:xfrm>
            <a:off x="5273542" y="0"/>
            <a:ext cx="4033943" cy="351155"/>
          </a:xfrm>
          <a:prstGeom prst="rect">
            <a:avLst/>
          </a:prstGeom>
        </p:spPr>
        <p:txBody>
          <a:bodyPr vert="horz" lIns="93311" tIns="46656" rIns="93311" bIns="46656" rtlCol="0"/>
          <a:lstStyle>
            <a:lvl1pPr algn="r">
              <a:defRPr sz="1200"/>
            </a:lvl1pPr>
          </a:lstStyle>
          <a:p>
            <a:fld id="{5DB8BBCB-7EDB-B44A-8066-E6CDD2228238}" type="datetimeFigureOut">
              <a:rPr lang="en-US" smtClean="0"/>
              <a:t>12/8/25</a:t>
            </a:fld>
            <a:endParaRPr lang="en-US"/>
          </a:p>
        </p:txBody>
      </p:sp>
      <p:sp>
        <p:nvSpPr>
          <p:cNvPr id="4" name="Slide Image Placeholder 3"/>
          <p:cNvSpPr>
            <a:spLocks noGrp="1" noRot="1" noChangeAspect="1"/>
          </p:cNvSpPr>
          <p:nvPr>
            <p:ph type="sldImg" idx="2"/>
          </p:nvPr>
        </p:nvSpPr>
        <p:spPr>
          <a:xfrm>
            <a:off x="2900363" y="527050"/>
            <a:ext cx="3508375" cy="2632075"/>
          </a:xfrm>
          <a:prstGeom prst="rect">
            <a:avLst/>
          </a:prstGeom>
          <a:noFill/>
          <a:ln w="12700">
            <a:solidFill>
              <a:prstClr val="black"/>
            </a:solidFill>
          </a:ln>
        </p:spPr>
        <p:txBody>
          <a:bodyPr vert="horz" lIns="93311" tIns="46656" rIns="93311" bIns="46656" rtlCol="0" anchor="ctr"/>
          <a:lstStyle/>
          <a:p>
            <a:endParaRPr lang="en-US"/>
          </a:p>
        </p:txBody>
      </p:sp>
      <p:sp>
        <p:nvSpPr>
          <p:cNvPr id="5" name="Notes Placeholder 4"/>
          <p:cNvSpPr>
            <a:spLocks noGrp="1"/>
          </p:cNvSpPr>
          <p:nvPr>
            <p:ph type="body" sz="quarter" idx="3"/>
          </p:nvPr>
        </p:nvSpPr>
        <p:spPr>
          <a:xfrm>
            <a:off x="930911" y="3335973"/>
            <a:ext cx="7447280" cy="3160395"/>
          </a:xfrm>
          <a:prstGeom prst="rect">
            <a:avLst/>
          </a:prstGeom>
        </p:spPr>
        <p:txBody>
          <a:bodyPr vert="horz" lIns="93311" tIns="46656" rIns="93311" bIns="4665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70320"/>
            <a:ext cx="4033943" cy="351155"/>
          </a:xfrm>
          <a:prstGeom prst="rect">
            <a:avLst/>
          </a:prstGeom>
        </p:spPr>
        <p:txBody>
          <a:bodyPr vert="horz" lIns="93311" tIns="46656" rIns="93311" bIns="46656" rtlCol="0" anchor="b"/>
          <a:lstStyle>
            <a:lvl1pPr algn="l">
              <a:defRPr sz="1200"/>
            </a:lvl1pPr>
          </a:lstStyle>
          <a:p>
            <a:endParaRPr lang="en-US"/>
          </a:p>
        </p:txBody>
      </p:sp>
      <p:sp>
        <p:nvSpPr>
          <p:cNvPr id="7" name="Slide Number Placeholder 6"/>
          <p:cNvSpPr>
            <a:spLocks noGrp="1"/>
          </p:cNvSpPr>
          <p:nvPr>
            <p:ph type="sldNum" sz="quarter" idx="5"/>
          </p:nvPr>
        </p:nvSpPr>
        <p:spPr>
          <a:xfrm>
            <a:off x="5273542" y="6670320"/>
            <a:ext cx="4033943" cy="351155"/>
          </a:xfrm>
          <a:prstGeom prst="rect">
            <a:avLst/>
          </a:prstGeom>
        </p:spPr>
        <p:txBody>
          <a:bodyPr vert="horz" lIns="93311" tIns="46656" rIns="93311" bIns="46656" rtlCol="0" anchor="b"/>
          <a:lstStyle>
            <a:lvl1pPr algn="r">
              <a:defRPr sz="1200"/>
            </a:lvl1pPr>
          </a:lstStyle>
          <a:p>
            <a:fld id="{2E37C2FE-0F63-D349-9A4F-E5398EFF3FAC}" type="slidenum">
              <a:rPr lang="en-US" smtClean="0"/>
              <a:t>‹#›</a:t>
            </a:fld>
            <a:endParaRPr lang="en-US"/>
          </a:p>
        </p:txBody>
      </p:sp>
    </p:spTree>
    <p:extLst>
      <p:ext uri="{BB962C8B-B14F-4D97-AF65-F5344CB8AC3E}">
        <p14:creationId xmlns:p14="http://schemas.microsoft.com/office/powerpoint/2010/main" val="399440548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E37C2FE-0F63-D349-9A4F-E5398EFF3FAC}" type="slidenum">
              <a:rPr lang="en-US" smtClean="0"/>
              <a:t>1</a:t>
            </a:fld>
            <a:endParaRPr lang="en-US"/>
          </a:p>
        </p:txBody>
      </p:sp>
    </p:spTree>
    <p:extLst>
      <p:ext uri="{BB962C8B-B14F-4D97-AF65-F5344CB8AC3E}">
        <p14:creationId xmlns:p14="http://schemas.microsoft.com/office/powerpoint/2010/main" val="679023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570" y="10225710"/>
            <a:ext cx="37308064" cy="7056783"/>
          </a:xfrm>
        </p:spPr>
        <p:txBody>
          <a:bodyPr/>
          <a:lstStyle/>
          <a:p>
            <a:r>
              <a:rPr lang="en-US"/>
              <a:t>Click to edit Master title style</a:t>
            </a:r>
          </a:p>
        </p:txBody>
      </p:sp>
      <p:sp>
        <p:nvSpPr>
          <p:cNvPr id="3" name="Subtitle 2"/>
          <p:cNvSpPr>
            <a:spLocks noGrp="1"/>
          </p:cNvSpPr>
          <p:nvPr>
            <p:ph type="subTitle" idx="1"/>
          </p:nvPr>
        </p:nvSpPr>
        <p:spPr>
          <a:xfrm>
            <a:off x="6583136" y="18654094"/>
            <a:ext cx="30724929" cy="8411817"/>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BE1D010-FAA8-5343-9AE1-71DD799C0BB2}" type="slidenum">
              <a:rPr lang="en-US"/>
              <a:pPr/>
              <a:t>‹#›</a:t>
            </a:fld>
            <a:endParaRPr lang="en-US"/>
          </a:p>
        </p:txBody>
      </p:sp>
    </p:spTree>
    <p:extLst>
      <p:ext uri="{BB962C8B-B14F-4D97-AF65-F5344CB8AC3E}">
        <p14:creationId xmlns:p14="http://schemas.microsoft.com/office/powerpoint/2010/main" val="2844621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FCAF886-CB66-9047-B761-DB1F14EA5341}" type="slidenum">
              <a:rPr lang="en-US"/>
              <a:pPr/>
              <a:t>‹#›</a:t>
            </a:fld>
            <a:endParaRPr lang="en-US"/>
          </a:p>
        </p:txBody>
      </p:sp>
    </p:spTree>
    <p:extLst>
      <p:ext uri="{BB962C8B-B14F-4D97-AF65-F5344CB8AC3E}">
        <p14:creationId xmlns:p14="http://schemas.microsoft.com/office/powerpoint/2010/main" val="2868726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21153784"/>
            <a:ext cx="37308064" cy="653663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1" y="13952884"/>
            <a:ext cx="37308064" cy="7200899"/>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86B1F593-A7BC-A944-9D93-8C38B9FEC227}" type="slidenum">
              <a:rPr lang="en-US"/>
              <a:pPr/>
              <a:t>‹#›</a:t>
            </a:fld>
            <a:endParaRPr lang="en-US"/>
          </a:p>
        </p:txBody>
      </p:sp>
    </p:spTree>
    <p:extLst>
      <p:ext uri="{BB962C8B-B14F-4D97-AF65-F5344CB8AC3E}">
        <p14:creationId xmlns:p14="http://schemas.microsoft.com/office/powerpoint/2010/main" val="3115786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91570" y="9510092"/>
            <a:ext cx="18588717" cy="197507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0914" y="9510092"/>
            <a:ext cx="18588718" cy="197507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398778B-1745-C44B-A256-AEE845A1511E}" type="slidenum">
              <a:rPr lang="en-US"/>
              <a:pPr/>
              <a:t>‹#›</a:t>
            </a:fld>
            <a:endParaRPr lang="en-US"/>
          </a:p>
        </p:txBody>
      </p:sp>
    </p:spTree>
    <p:extLst>
      <p:ext uri="{BB962C8B-B14F-4D97-AF65-F5344CB8AC3E}">
        <p14:creationId xmlns:p14="http://schemas.microsoft.com/office/powerpoint/2010/main" val="971655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834" y="1318591"/>
            <a:ext cx="39501536"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833" y="7368210"/>
            <a:ext cx="19392900" cy="307119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4833" y="10439400"/>
            <a:ext cx="19392900" cy="1896551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664" y="7368210"/>
            <a:ext cx="19399704" cy="307119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664" y="10439400"/>
            <a:ext cx="19399704" cy="1896551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636FEEEE-C04E-A54B-87FE-5A856588EEF5}" type="slidenum">
              <a:rPr lang="en-US"/>
              <a:pPr/>
              <a:t>‹#›</a:t>
            </a:fld>
            <a:endParaRPr lang="en-US"/>
          </a:p>
        </p:txBody>
      </p:sp>
    </p:spTree>
    <p:extLst>
      <p:ext uri="{BB962C8B-B14F-4D97-AF65-F5344CB8AC3E}">
        <p14:creationId xmlns:p14="http://schemas.microsoft.com/office/powerpoint/2010/main" val="456189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1B9F3B95-9F66-D843-8FED-CB8C7A8015B3}" type="slidenum">
              <a:rPr lang="en-US"/>
              <a:pPr/>
              <a:t>‹#›</a:t>
            </a:fld>
            <a:endParaRPr lang="en-US"/>
          </a:p>
        </p:txBody>
      </p:sp>
    </p:spTree>
    <p:extLst>
      <p:ext uri="{BB962C8B-B14F-4D97-AF65-F5344CB8AC3E}">
        <p14:creationId xmlns:p14="http://schemas.microsoft.com/office/powerpoint/2010/main" val="52658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EE616A87-B19E-284A-B9F6-D8DDD9BEAD82}" type="slidenum">
              <a:rPr lang="en-US"/>
              <a:pPr/>
              <a:t>‹#›</a:t>
            </a:fld>
            <a:endParaRPr lang="en-US"/>
          </a:p>
        </p:txBody>
      </p:sp>
    </p:spTree>
    <p:extLst>
      <p:ext uri="{BB962C8B-B14F-4D97-AF65-F5344CB8AC3E}">
        <p14:creationId xmlns:p14="http://schemas.microsoft.com/office/powerpoint/2010/main" val="186458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833" y="1310309"/>
            <a:ext cx="14439900" cy="557750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59968" y="1310310"/>
            <a:ext cx="24536400" cy="2809460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833" y="6887818"/>
            <a:ext cx="14439900" cy="2251710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328A9B0E-9600-4E45-880E-636578A6F0E8}" type="slidenum">
              <a:rPr lang="en-US"/>
              <a:pPr/>
              <a:t>‹#›</a:t>
            </a:fld>
            <a:endParaRPr lang="en-US"/>
          </a:p>
        </p:txBody>
      </p:sp>
    </p:spTree>
    <p:extLst>
      <p:ext uri="{BB962C8B-B14F-4D97-AF65-F5344CB8AC3E}">
        <p14:creationId xmlns:p14="http://schemas.microsoft.com/office/powerpoint/2010/main" val="1680722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437" y="23042218"/>
            <a:ext cx="26335264" cy="2721666"/>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437" y="2941984"/>
            <a:ext cx="26335264" cy="1975070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437" y="25763884"/>
            <a:ext cx="26335264" cy="386300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BEFAF9B-02D4-0147-AB44-A9B8A4F4DC5C}" type="slidenum">
              <a:rPr lang="en-US"/>
              <a:pPr/>
              <a:t>‹#›</a:t>
            </a:fld>
            <a:endParaRPr lang="en-US"/>
          </a:p>
        </p:txBody>
      </p:sp>
    </p:spTree>
    <p:extLst>
      <p:ext uri="{BB962C8B-B14F-4D97-AF65-F5344CB8AC3E}">
        <p14:creationId xmlns:p14="http://schemas.microsoft.com/office/powerpoint/2010/main" val="1137058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F54D016-BFDE-8E46-8C05-6EB967ED98F1}" type="slidenum">
              <a:rPr lang="en-US"/>
              <a:pPr/>
              <a:t>‹#›</a:t>
            </a:fld>
            <a:endParaRPr lang="en-US"/>
          </a:p>
        </p:txBody>
      </p:sp>
    </p:spTree>
    <p:extLst>
      <p:ext uri="{BB962C8B-B14F-4D97-AF65-F5344CB8AC3E}">
        <p14:creationId xmlns:p14="http://schemas.microsoft.com/office/powerpoint/2010/main" val="2876531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3298" y="2925419"/>
            <a:ext cx="9326336" cy="2633538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291568" y="2925419"/>
            <a:ext cx="27851100" cy="2633538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7D553AB-808B-C34B-8079-BEF48D7009FA}" type="slidenum">
              <a:rPr lang="en-US"/>
              <a:pPr/>
              <a:t>‹#›</a:t>
            </a:fld>
            <a:endParaRPr lang="en-US"/>
          </a:p>
        </p:txBody>
      </p:sp>
    </p:spTree>
    <p:extLst>
      <p:ext uri="{BB962C8B-B14F-4D97-AF65-F5344CB8AC3E}">
        <p14:creationId xmlns:p14="http://schemas.microsoft.com/office/powerpoint/2010/main" val="3690306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291570" y="2925417"/>
            <a:ext cx="37308064" cy="5486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472873" tIns="236436" rIns="472873" bIns="236436"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3291570" y="9510092"/>
            <a:ext cx="37308064" cy="19750708"/>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472873" tIns="236436" rIns="472873" bIns="23643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291568" y="29992984"/>
            <a:ext cx="9144000" cy="21932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472873" tIns="236436" rIns="472873" bIns="236436" numCol="1" anchor="t" anchorCtr="0" compatLnSpc="1">
            <a:prstTxWarp prst="textNoShape">
              <a:avLst/>
            </a:prstTxWarp>
          </a:bodyPr>
          <a:lstStyle>
            <a:lvl1pPr defTabSz="4729163">
              <a:defRPr sz="7200">
                <a:latin typeface="Times New Roman" pitchFamily="18" charset="0"/>
                <a:ea typeface="+mn-ea"/>
              </a:defRPr>
            </a:lvl1pPr>
          </a:lstStyle>
          <a:p>
            <a:pPr>
              <a:defRPr/>
            </a:pPr>
            <a:endParaRPr lang="en-US"/>
          </a:p>
        </p:txBody>
      </p:sp>
      <p:sp>
        <p:nvSpPr>
          <p:cNvPr id="1029" name="Rectangle 5"/>
          <p:cNvSpPr>
            <a:spLocks noGrp="1" noChangeArrowheads="1"/>
          </p:cNvSpPr>
          <p:nvPr>
            <p:ph type="ftr" sz="quarter" idx="3"/>
          </p:nvPr>
        </p:nvSpPr>
        <p:spPr bwMode="auto">
          <a:xfrm>
            <a:off x="14996434" y="29992984"/>
            <a:ext cx="13898336" cy="21932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472873" tIns="236436" rIns="472873" bIns="236436" numCol="1" anchor="t" anchorCtr="0" compatLnSpc="1">
            <a:prstTxWarp prst="textNoShape">
              <a:avLst/>
            </a:prstTxWarp>
          </a:bodyPr>
          <a:lstStyle>
            <a:lvl1pPr algn="ctr" defTabSz="4729163">
              <a:defRPr sz="7200">
                <a:latin typeface="Times New Roman" pitchFamily="18" charset="0"/>
                <a:ea typeface="+mn-ea"/>
              </a:defRPr>
            </a:lvl1pPr>
          </a:lstStyle>
          <a:p>
            <a:pPr>
              <a:defRPr/>
            </a:pPr>
            <a:endParaRPr lang="en-US"/>
          </a:p>
        </p:txBody>
      </p:sp>
      <p:sp>
        <p:nvSpPr>
          <p:cNvPr id="1030" name="Rectangle 6"/>
          <p:cNvSpPr>
            <a:spLocks noGrp="1" noChangeArrowheads="1"/>
          </p:cNvSpPr>
          <p:nvPr>
            <p:ph type="sldNum" sz="quarter" idx="4"/>
          </p:nvPr>
        </p:nvSpPr>
        <p:spPr bwMode="auto">
          <a:xfrm>
            <a:off x="31455633" y="29992984"/>
            <a:ext cx="9144000" cy="21932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472873" tIns="236436" rIns="472873" bIns="236436" numCol="1" anchor="t" anchorCtr="0" compatLnSpc="1">
            <a:prstTxWarp prst="textNoShape">
              <a:avLst/>
            </a:prstTxWarp>
          </a:bodyPr>
          <a:lstStyle>
            <a:lvl1pPr algn="r" defTabSz="4729163">
              <a:defRPr sz="7200"/>
            </a:lvl1pPr>
          </a:lstStyle>
          <a:p>
            <a:fld id="{F1CDB92E-EDD7-DA4A-B090-1A20E4369676}"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729163" rtl="0" eaLnBrk="0" fontAlgn="base" hangingPunct="0">
        <a:spcBef>
          <a:spcPct val="0"/>
        </a:spcBef>
        <a:spcAft>
          <a:spcPct val="0"/>
        </a:spcAft>
        <a:defRPr sz="22800">
          <a:solidFill>
            <a:schemeClr val="tx2"/>
          </a:solidFill>
          <a:latin typeface="+mj-lt"/>
          <a:ea typeface="ＭＳ Ｐゴシック" charset="0"/>
          <a:cs typeface="+mj-cs"/>
        </a:defRPr>
      </a:lvl1pPr>
      <a:lvl2pPr algn="ctr" defTabSz="4729163" rtl="0" eaLnBrk="0" fontAlgn="base" hangingPunct="0">
        <a:spcBef>
          <a:spcPct val="0"/>
        </a:spcBef>
        <a:spcAft>
          <a:spcPct val="0"/>
        </a:spcAft>
        <a:defRPr sz="22800">
          <a:solidFill>
            <a:schemeClr val="tx2"/>
          </a:solidFill>
          <a:latin typeface="Times New Roman" pitchFamily="18" charset="0"/>
          <a:ea typeface="ＭＳ Ｐゴシック" charset="0"/>
        </a:defRPr>
      </a:lvl2pPr>
      <a:lvl3pPr algn="ctr" defTabSz="4729163" rtl="0" eaLnBrk="0" fontAlgn="base" hangingPunct="0">
        <a:spcBef>
          <a:spcPct val="0"/>
        </a:spcBef>
        <a:spcAft>
          <a:spcPct val="0"/>
        </a:spcAft>
        <a:defRPr sz="22800">
          <a:solidFill>
            <a:schemeClr val="tx2"/>
          </a:solidFill>
          <a:latin typeface="Times New Roman" pitchFamily="18" charset="0"/>
          <a:ea typeface="ＭＳ Ｐゴシック" charset="0"/>
        </a:defRPr>
      </a:lvl3pPr>
      <a:lvl4pPr algn="ctr" defTabSz="4729163" rtl="0" eaLnBrk="0" fontAlgn="base" hangingPunct="0">
        <a:spcBef>
          <a:spcPct val="0"/>
        </a:spcBef>
        <a:spcAft>
          <a:spcPct val="0"/>
        </a:spcAft>
        <a:defRPr sz="22800">
          <a:solidFill>
            <a:schemeClr val="tx2"/>
          </a:solidFill>
          <a:latin typeface="Times New Roman" pitchFamily="18" charset="0"/>
          <a:ea typeface="ＭＳ Ｐゴシック" charset="0"/>
        </a:defRPr>
      </a:lvl4pPr>
      <a:lvl5pPr algn="ctr" defTabSz="4729163" rtl="0" eaLnBrk="0" fontAlgn="base" hangingPunct="0">
        <a:spcBef>
          <a:spcPct val="0"/>
        </a:spcBef>
        <a:spcAft>
          <a:spcPct val="0"/>
        </a:spcAft>
        <a:defRPr sz="22800">
          <a:solidFill>
            <a:schemeClr val="tx2"/>
          </a:solidFill>
          <a:latin typeface="Times New Roman" pitchFamily="18" charset="0"/>
          <a:ea typeface="ＭＳ Ｐゴシック" charset="0"/>
        </a:defRPr>
      </a:lvl5pPr>
      <a:lvl6pPr marL="457200" algn="ctr" defTabSz="4729163" rtl="0" fontAlgn="base">
        <a:spcBef>
          <a:spcPct val="0"/>
        </a:spcBef>
        <a:spcAft>
          <a:spcPct val="0"/>
        </a:spcAft>
        <a:defRPr sz="22800">
          <a:solidFill>
            <a:schemeClr val="tx2"/>
          </a:solidFill>
          <a:latin typeface="Times New Roman" pitchFamily="18" charset="0"/>
        </a:defRPr>
      </a:lvl6pPr>
      <a:lvl7pPr marL="914400" algn="ctr" defTabSz="4729163" rtl="0" fontAlgn="base">
        <a:spcBef>
          <a:spcPct val="0"/>
        </a:spcBef>
        <a:spcAft>
          <a:spcPct val="0"/>
        </a:spcAft>
        <a:defRPr sz="22800">
          <a:solidFill>
            <a:schemeClr val="tx2"/>
          </a:solidFill>
          <a:latin typeface="Times New Roman" pitchFamily="18" charset="0"/>
        </a:defRPr>
      </a:lvl7pPr>
      <a:lvl8pPr marL="1371600" algn="ctr" defTabSz="4729163" rtl="0" fontAlgn="base">
        <a:spcBef>
          <a:spcPct val="0"/>
        </a:spcBef>
        <a:spcAft>
          <a:spcPct val="0"/>
        </a:spcAft>
        <a:defRPr sz="22800">
          <a:solidFill>
            <a:schemeClr val="tx2"/>
          </a:solidFill>
          <a:latin typeface="Times New Roman" pitchFamily="18" charset="0"/>
        </a:defRPr>
      </a:lvl8pPr>
      <a:lvl9pPr marL="1828800" algn="ctr" defTabSz="4729163" rtl="0" fontAlgn="base">
        <a:spcBef>
          <a:spcPct val="0"/>
        </a:spcBef>
        <a:spcAft>
          <a:spcPct val="0"/>
        </a:spcAft>
        <a:defRPr sz="22800">
          <a:solidFill>
            <a:schemeClr val="tx2"/>
          </a:solidFill>
          <a:latin typeface="Times New Roman" pitchFamily="18" charset="0"/>
        </a:defRPr>
      </a:lvl9pPr>
    </p:titleStyle>
    <p:bodyStyle>
      <a:lvl1pPr marL="1773238" indent="-1773238" algn="l" defTabSz="4729163" rtl="0" eaLnBrk="0" fontAlgn="base" hangingPunct="0">
        <a:spcBef>
          <a:spcPct val="20000"/>
        </a:spcBef>
        <a:spcAft>
          <a:spcPct val="0"/>
        </a:spcAft>
        <a:buChar char="•"/>
        <a:defRPr sz="16500">
          <a:solidFill>
            <a:schemeClr val="tx1"/>
          </a:solidFill>
          <a:latin typeface="+mn-lt"/>
          <a:ea typeface="ＭＳ Ｐゴシック" charset="0"/>
          <a:cs typeface="+mn-cs"/>
        </a:defRPr>
      </a:lvl1pPr>
      <a:lvl2pPr marL="3841750" indent="-1477963" algn="l" defTabSz="4729163" rtl="0" eaLnBrk="0" fontAlgn="base" hangingPunct="0">
        <a:spcBef>
          <a:spcPct val="20000"/>
        </a:spcBef>
        <a:spcAft>
          <a:spcPct val="0"/>
        </a:spcAft>
        <a:buChar char="–"/>
        <a:defRPr sz="14500">
          <a:solidFill>
            <a:schemeClr val="tx1"/>
          </a:solidFill>
          <a:latin typeface="+mn-lt"/>
          <a:ea typeface="ＭＳ Ｐゴシック" charset="0"/>
        </a:defRPr>
      </a:lvl2pPr>
      <a:lvl3pPr marL="5910263" indent="-1181100" algn="l" defTabSz="4729163" rtl="0" eaLnBrk="0" fontAlgn="base" hangingPunct="0">
        <a:spcBef>
          <a:spcPct val="20000"/>
        </a:spcBef>
        <a:spcAft>
          <a:spcPct val="0"/>
        </a:spcAft>
        <a:buChar char="•"/>
        <a:defRPr sz="12400">
          <a:solidFill>
            <a:schemeClr val="tx1"/>
          </a:solidFill>
          <a:latin typeface="+mn-lt"/>
          <a:ea typeface="ＭＳ Ｐゴシック" charset="0"/>
        </a:defRPr>
      </a:lvl3pPr>
      <a:lvl4pPr marL="8275638" indent="-1182688" algn="l" defTabSz="4729163" rtl="0" eaLnBrk="0" fontAlgn="base" hangingPunct="0">
        <a:spcBef>
          <a:spcPct val="20000"/>
        </a:spcBef>
        <a:spcAft>
          <a:spcPct val="0"/>
        </a:spcAft>
        <a:buChar char="–"/>
        <a:defRPr sz="10300">
          <a:solidFill>
            <a:schemeClr val="tx1"/>
          </a:solidFill>
          <a:latin typeface="+mn-lt"/>
          <a:ea typeface="ＭＳ Ｐゴシック" charset="0"/>
        </a:defRPr>
      </a:lvl4pPr>
      <a:lvl5pPr marL="10639425" indent="-1182688" algn="l" defTabSz="4729163" rtl="0" eaLnBrk="0" fontAlgn="base" hangingPunct="0">
        <a:spcBef>
          <a:spcPct val="20000"/>
        </a:spcBef>
        <a:spcAft>
          <a:spcPct val="0"/>
        </a:spcAft>
        <a:buChar char="»"/>
        <a:defRPr sz="10300">
          <a:solidFill>
            <a:schemeClr val="tx1"/>
          </a:solidFill>
          <a:latin typeface="+mn-lt"/>
          <a:ea typeface="ＭＳ Ｐゴシック" charset="0"/>
        </a:defRPr>
      </a:lvl5pPr>
      <a:lvl6pPr marL="11096625" indent="-1182688" algn="l" defTabSz="4729163" rtl="0" fontAlgn="base">
        <a:spcBef>
          <a:spcPct val="20000"/>
        </a:spcBef>
        <a:spcAft>
          <a:spcPct val="0"/>
        </a:spcAft>
        <a:buChar char="»"/>
        <a:defRPr sz="10300">
          <a:solidFill>
            <a:schemeClr val="tx1"/>
          </a:solidFill>
          <a:latin typeface="+mn-lt"/>
        </a:defRPr>
      </a:lvl6pPr>
      <a:lvl7pPr marL="11553825" indent="-1182688" algn="l" defTabSz="4729163" rtl="0" fontAlgn="base">
        <a:spcBef>
          <a:spcPct val="20000"/>
        </a:spcBef>
        <a:spcAft>
          <a:spcPct val="0"/>
        </a:spcAft>
        <a:buChar char="»"/>
        <a:defRPr sz="10300">
          <a:solidFill>
            <a:schemeClr val="tx1"/>
          </a:solidFill>
          <a:latin typeface="+mn-lt"/>
        </a:defRPr>
      </a:lvl7pPr>
      <a:lvl8pPr marL="12011025" indent="-1182688" algn="l" defTabSz="4729163" rtl="0" fontAlgn="base">
        <a:spcBef>
          <a:spcPct val="20000"/>
        </a:spcBef>
        <a:spcAft>
          <a:spcPct val="0"/>
        </a:spcAft>
        <a:buChar char="»"/>
        <a:defRPr sz="10300">
          <a:solidFill>
            <a:schemeClr val="tx1"/>
          </a:solidFill>
          <a:latin typeface="+mn-lt"/>
        </a:defRPr>
      </a:lvl8pPr>
      <a:lvl9pPr marL="12468225" indent="-1182688" algn="l" defTabSz="4729163" rtl="0" fontAlgn="base">
        <a:spcBef>
          <a:spcPct val="20000"/>
        </a:spcBef>
        <a:spcAft>
          <a:spcPct val="0"/>
        </a:spcAft>
        <a:buChar char="»"/>
        <a:defRPr sz="10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8.png"/><Relationship Id="rId4" Type="http://schemas.openxmlformats.org/officeDocument/2006/relationships/image" Target="../media/image2.emf"/><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31611190" y="24472298"/>
            <a:ext cx="11811000" cy="1066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6600" b="1">
                <a:latin typeface="Arial"/>
                <a:cs typeface="Arial"/>
              </a:rPr>
              <a:t>Conclusion</a:t>
            </a:r>
          </a:p>
        </p:txBody>
      </p:sp>
      <p:sp>
        <p:nvSpPr>
          <p:cNvPr id="39" name="Rectangle 38"/>
          <p:cNvSpPr/>
          <p:nvPr/>
        </p:nvSpPr>
        <p:spPr>
          <a:xfrm>
            <a:off x="377606" y="19425173"/>
            <a:ext cx="11591362" cy="104618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endParaRPr lang="en-US" sz="6000">
              <a:cs typeface="Times New Roman"/>
            </a:endParaRPr>
          </a:p>
        </p:txBody>
      </p:sp>
      <p:sp>
        <p:nvSpPr>
          <p:cNvPr id="35" name="Rectangle 34"/>
          <p:cNvSpPr/>
          <p:nvPr/>
        </p:nvSpPr>
        <p:spPr>
          <a:xfrm>
            <a:off x="13716000" y="6781800"/>
            <a:ext cx="16687800" cy="1066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angle 37"/>
          <p:cNvSpPr/>
          <p:nvPr/>
        </p:nvSpPr>
        <p:spPr>
          <a:xfrm>
            <a:off x="31318200" y="6795612"/>
            <a:ext cx="12192000" cy="1066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762000" y="6781800"/>
            <a:ext cx="12192000" cy="1066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38972217" y="31631547"/>
            <a:ext cx="4049486" cy="4492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1" name="Rectangle 3"/>
          <p:cNvSpPr>
            <a:spLocks noChangeArrowheads="1"/>
          </p:cNvSpPr>
          <p:nvPr/>
        </p:nvSpPr>
        <p:spPr bwMode="auto">
          <a:xfrm>
            <a:off x="3352800" y="152400"/>
            <a:ext cx="37338001" cy="55626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lIns="470258" tIns="235129" rIns="470258" bIns="235129"/>
          <a:lstStyle/>
          <a:p>
            <a:pPr algn="ctr"/>
            <a:endParaRPr lang="en-US" sz="4400" baseline="30000">
              <a:solidFill>
                <a:schemeClr val="bg1"/>
              </a:solidFill>
            </a:endParaRPr>
          </a:p>
        </p:txBody>
      </p:sp>
      <p:pic>
        <p:nvPicPr>
          <p:cNvPr id="2069" name="Picture 54" descr="UF-Signature-Themel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92630" y="31180311"/>
            <a:ext cx="4008664" cy="13517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4" name="Rectangle 33"/>
          <p:cNvSpPr/>
          <p:nvPr/>
        </p:nvSpPr>
        <p:spPr>
          <a:xfrm>
            <a:off x="0" y="30789372"/>
            <a:ext cx="43891200" cy="2133600"/>
          </a:xfrm>
          <a:prstGeom prst="rect">
            <a:avLst/>
          </a:prstGeom>
          <a:solidFill>
            <a:srgbClr val="162C55"/>
          </a:solidFill>
          <a:ln>
            <a:noFill/>
          </a:ln>
        </p:spPr>
        <p:style>
          <a:lnRef idx="2">
            <a:schemeClr val="accent1">
              <a:shade val="50000"/>
            </a:schemeClr>
          </a:lnRef>
          <a:fillRef idx="1">
            <a:schemeClr val="accent1"/>
          </a:fillRef>
          <a:effectRef idx="0">
            <a:schemeClr val="accent1"/>
          </a:effectRef>
          <a:fontRef idx="minor">
            <a:schemeClr val="lt1"/>
          </a:fontRef>
        </p:style>
        <p:txBody>
          <a:bodyPr lIns="79967" tIns="39983" rIns="79967" bIns="39983" anchor="ctr"/>
          <a:lstStyle/>
          <a:p>
            <a:pPr algn="ctr"/>
            <a:endParaRPr lang="en-US" sz="3600"/>
          </a:p>
        </p:txBody>
      </p:sp>
      <p:sp>
        <p:nvSpPr>
          <p:cNvPr id="7" name="Rounded Rectangle 6"/>
          <p:cNvSpPr>
            <a:spLocks noChangeAspect="1"/>
          </p:cNvSpPr>
          <p:nvPr/>
        </p:nvSpPr>
        <p:spPr>
          <a:xfrm>
            <a:off x="0" y="6023"/>
            <a:ext cx="43891200" cy="6096000"/>
          </a:xfrm>
          <a:prstGeom prst="roundRect">
            <a:avLst>
              <a:gd name="adj" fmla="val 0"/>
            </a:avLst>
          </a:prstGeom>
          <a:solidFill>
            <a:srgbClr val="162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a:spLocks noChangeAspect="1"/>
          </p:cNvSpPr>
          <p:nvPr/>
        </p:nvSpPr>
        <p:spPr>
          <a:xfrm>
            <a:off x="6019800" y="1000462"/>
            <a:ext cx="31851600" cy="2657138"/>
          </a:xfrm>
          <a:prstGeom prst="rect">
            <a:avLst/>
          </a:prstGeom>
          <a:noFill/>
        </p:spPr>
        <p:txBody>
          <a:bodyPr wrap="square" rtlCol="0">
            <a:spAutoFit/>
          </a:bodyPr>
          <a:lstStyle/>
          <a:p>
            <a:pPr algn="ctr">
              <a:lnSpc>
                <a:spcPts val="10000"/>
              </a:lnSpc>
            </a:pPr>
            <a:r>
              <a:rPr lang="en-US" sz="9600" b="1">
                <a:solidFill>
                  <a:schemeClr val="bg1"/>
                </a:solidFill>
                <a:latin typeface="Arial" panose="020B0604020202020204" pitchFamily="34" charset="0"/>
                <a:cs typeface="Arial" panose="020B0604020202020204" pitchFamily="34" charset="0"/>
              </a:rPr>
              <a:t>Dietary Analysis of the </a:t>
            </a:r>
            <a:r>
              <a:rPr lang="en-US" sz="9600" b="1" dirty="0">
                <a:solidFill>
                  <a:schemeClr val="bg1"/>
                </a:solidFill>
                <a:latin typeface="Arial" panose="020B0604020202020204" pitchFamily="34" charset="0"/>
                <a:cs typeface="Arial" panose="020B0604020202020204" pitchFamily="34" charset="0"/>
              </a:rPr>
              <a:t>Breastfeeding and Early Child </a:t>
            </a:r>
          </a:p>
          <a:p>
            <a:pPr algn="ctr">
              <a:lnSpc>
                <a:spcPts val="10000"/>
              </a:lnSpc>
            </a:pPr>
            <a:r>
              <a:rPr lang="en-US" sz="9600" b="1" dirty="0">
                <a:solidFill>
                  <a:schemeClr val="bg1"/>
                </a:solidFill>
                <a:latin typeface="Arial" panose="020B0604020202020204" pitchFamily="34" charset="0"/>
                <a:cs typeface="Arial" panose="020B0604020202020204" pitchFamily="34" charset="0"/>
              </a:rPr>
              <a:t>(BEACH) Study</a:t>
            </a:r>
          </a:p>
        </p:txBody>
      </p:sp>
      <p:sp>
        <p:nvSpPr>
          <p:cNvPr id="16" name="TextBox 15"/>
          <p:cNvSpPr txBox="1">
            <a:spLocks noChangeAspect="1"/>
          </p:cNvSpPr>
          <p:nvPr/>
        </p:nvSpPr>
        <p:spPr>
          <a:xfrm>
            <a:off x="3499654" y="4039997"/>
            <a:ext cx="37061653" cy="3524042"/>
          </a:xfrm>
          <a:prstGeom prst="rect">
            <a:avLst/>
          </a:prstGeom>
          <a:noFill/>
        </p:spPr>
        <p:txBody>
          <a:bodyPr wrap="square" lIns="91440" tIns="45720" rIns="91440" bIns="45720" rtlCol="0" anchor="t">
            <a:spAutoFit/>
          </a:bodyPr>
          <a:lstStyle/>
          <a:p>
            <a:pPr algn="ctr"/>
            <a:r>
              <a:rPr lang="en-US" sz="4900">
                <a:solidFill>
                  <a:schemeClr val="bg1"/>
                </a:solidFill>
                <a:latin typeface="Times New Roman"/>
                <a:ea typeface="ＭＳ Ｐゴシック"/>
                <a:cs typeface="Times New Roman"/>
              </a:rPr>
              <a:t>Authors &amp; Affiliations: Alexandra </a:t>
            </a:r>
            <a:r>
              <a:rPr lang="en-US" sz="4900" err="1">
                <a:solidFill>
                  <a:schemeClr val="bg1"/>
                </a:solidFill>
                <a:latin typeface="Times New Roman"/>
                <a:ea typeface="ＭＳ Ｐゴシック"/>
                <a:cs typeface="Times New Roman"/>
              </a:rPr>
              <a:t>Bochna</a:t>
            </a:r>
            <a:r>
              <a:rPr lang="en-US" sz="4900">
                <a:solidFill>
                  <a:schemeClr val="bg1"/>
                </a:solidFill>
                <a:latin typeface="Times New Roman"/>
                <a:ea typeface="ＭＳ Ｐゴシック"/>
                <a:cs typeface="Times New Roman"/>
              </a:rPr>
              <a:t>, Sarah Duncan, Natasha Davis, Vedant Patel, </a:t>
            </a:r>
            <a:r>
              <a:rPr lang="en-US" sz="4900">
                <a:solidFill>
                  <a:schemeClr val="bg1"/>
                </a:solidFill>
                <a:latin typeface="Times New Roman"/>
                <a:ea typeface="ＭＳ Ｐゴシック"/>
                <a:cs typeface="Arial"/>
              </a:rPr>
              <a:t>Dominick J. Lemas, PhD</a:t>
            </a:r>
          </a:p>
          <a:p>
            <a:pPr algn="ctr"/>
            <a:endParaRPr lang="en-US" sz="4900">
              <a:solidFill>
                <a:schemeClr val="bg1"/>
              </a:solidFill>
              <a:ea typeface="ＭＳ Ｐゴシック"/>
              <a:cs typeface="Times New Roman"/>
            </a:endParaRPr>
          </a:p>
          <a:p>
            <a:pPr algn="ctr"/>
            <a:endParaRPr lang="en-US" sz="4000">
              <a:solidFill>
                <a:schemeClr val="bg1"/>
              </a:solidFill>
              <a:latin typeface="Arial"/>
              <a:cs typeface="Arial"/>
            </a:endParaRPr>
          </a:p>
          <a:p>
            <a:br>
              <a:rPr lang="en-US" sz="4000"/>
            </a:br>
            <a:endParaRPr lang="en-US" sz="4000">
              <a:solidFill>
                <a:schemeClr val="bg1"/>
              </a:solidFill>
              <a:latin typeface="Arial" panose="020B0604020202020204" pitchFamily="34" charset="0"/>
              <a:cs typeface="Arial" panose="020B0604020202020204" pitchFamily="34" charset="0"/>
            </a:endParaRPr>
          </a:p>
        </p:txBody>
      </p:sp>
      <p:cxnSp>
        <p:nvCxnSpPr>
          <p:cNvPr id="25" name="Straight Connector 24"/>
          <p:cNvCxnSpPr/>
          <p:nvPr/>
        </p:nvCxnSpPr>
        <p:spPr>
          <a:xfrm>
            <a:off x="6553200" y="31003890"/>
            <a:ext cx="0" cy="1704564"/>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108629" y="6804482"/>
            <a:ext cx="10896600" cy="1107996"/>
          </a:xfrm>
          <a:prstGeom prst="rect">
            <a:avLst/>
          </a:prstGeom>
          <a:noFill/>
        </p:spPr>
        <p:txBody>
          <a:bodyPr wrap="square" lIns="91440" tIns="45720" rIns="91440" bIns="45720" rtlCol="0" anchor="t">
            <a:spAutoFit/>
          </a:bodyPr>
          <a:lstStyle/>
          <a:p>
            <a:r>
              <a:rPr lang="en-US" sz="6600" b="1">
                <a:solidFill>
                  <a:schemeClr val="bg1"/>
                </a:solidFill>
                <a:latin typeface="Arial"/>
                <a:ea typeface="ＭＳ Ｐゴシック"/>
                <a:cs typeface="Arial"/>
              </a:rPr>
              <a:t>Introduction</a:t>
            </a:r>
            <a:endParaRPr lang="en-US"/>
          </a:p>
        </p:txBody>
      </p:sp>
      <p:sp>
        <p:nvSpPr>
          <p:cNvPr id="63" name="TextBox 62"/>
          <p:cNvSpPr txBox="1"/>
          <p:nvPr/>
        </p:nvSpPr>
        <p:spPr>
          <a:xfrm>
            <a:off x="14127726" y="6844286"/>
            <a:ext cx="14630400" cy="1107996"/>
          </a:xfrm>
          <a:prstGeom prst="rect">
            <a:avLst/>
          </a:prstGeom>
          <a:noFill/>
        </p:spPr>
        <p:txBody>
          <a:bodyPr wrap="square" lIns="91440" tIns="45720" rIns="91440" bIns="45720" rtlCol="0" anchor="t">
            <a:spAutoFit/>
          </a:bodyPr>
          <a:lstStyle/>
          <a:p>
            <a:r>
              <a:rPr lang="en-US" sz="6600" b="1">
                <a:solidFill>
                  <a:srgbClr val="FFFFFF"/>
                </a:solidFill>
                <a:latin typeface="Arial"/>
                <a:ea typeface="ＭＳ Ｐゴシック"/>
                <a:cs typeface="Arial"/>
              </a:rPr>
              <a:t>Results</a:t>
            </a:r>
            <a:endParaRPr lang="en-US"/>
          </a:p>
        </p:txBody>
      </p:sp>
      <p:sp>
        <p:nvSpPr>
          <p:cNvPr id="75" name="TextBox 74"/>
          <p:cNvSpPr txBox="1"/>
          <p:nvPr/>
        </p:nvSpPr>
        <p:spPr>
          <a:xfrm>
            <a:off x="31623000" y="6799946"/>
            <a:ext cx="12268200" cy="1107996"/>
          </a:xfrm>
          <a:prstGeom prst="rect">
            <a:avLst/>
          </a:prstGeom>
          <a:noFill/>
        </p:spPr>
        <p:txBody>
          <a:bodyPr wrap="square" lIns="91440" tIns="45720" rIns="91440" bIns="45720" rtlCol="0" anchor="t">
            <a:spAutoFit/>
          </a:bodyPr>
          <a:lstStyle/>
          <a:p>
            <a:r>
              <a:rPr lang="en-US" sz="6600" b="1">
                <a:solidFill>
                  <a:srgbClr val="FFFFFF"/>
                </a:solidFill>
                <a:latin typeface="Arial"/>
                <a:ea typeface="ＭＳ Ｐゴシック"/>
                <a:cs typeface="Arial"/>
              </a:rPr>
              <a:t>Discussion</a:t>
            </a:r>
            <a:endParaRPr lang="en-US"/>
          </a:p>
        </p:txBody>
      </p:sp>
      <p:sp>
        <p:nvSpPr>
          <p:cNvPr id="54" name="TextBox 53"/>
          <p:cNvSpPr txBox="1"/>
          <p:nvPr/>
        </p:nvSpPr>
        <p:spPr>
          <a:xfrm>
            <a:off x="7613197" y="31563785"/>
            <a:ext cx="35135003" cy="584775"/>
          </a:xfrm>
          <a:prstGeom prst="rect">
            <a:avLst/>
          </a:prstGeom>
          <a:noFill/>
        </p:spPr>
        <p:txBody>
          <a:bodyPr wrap="square" rtlCol="0" anchor="ctr">
            <a:spAutoFit/>
          </a:bodyPr>
          <a:lstStyle/>
          <a:p>
            <a:r>
              <a:rPr lang="en-US" sz="3200" i="1">
                <a:solidFill>
                  <a:schemeClr val="bg1"/>
                </a:solidFill>
                <a:latin typeface="Arial" panose="020B0604020202020204" pitchFamily="34" charset="0"/>
                <a:cs typeface="Arial" panose="020B0604020202020204" pitchFamily="34" charset="0"/>
              </a:rPr>
              <a:t>Acknowledgements, Funding, We thank out participants for the continuous support,.</a:t>
            </a:r>
          </a:p>
        </p:txBody>
      </p:sp>
      <p:pic>
        <p:nvPicPr>
          <p:cNvPr id="71" name="Picture 70"/>
          <p:cNvPicPr>
            <a:picLocks noChangeAspect="1"/>
          </p:cNvPicPr>
          <p:nvPr/>
        </p:nvPicPr>
        <p:blipFill>
          <a:blip r:embed="rId4"/>
          <a:stretch>
            <a:fillRect/>
          </a:stretch>
        </p:blipFill>
        <p:spPr>
          <a:xfrm>
            <a:off x="39471600" y="-2702223"/>
            <a:ext cx="6238111" cy="5404446"/>
          </a:xfrm>
          <a:prstGeom prst="rect">
            <a:avLst/>
          </a:prstGeom>
        </p:spPr>
      </p:pic>
      <p:pic>
        <p:nvPicPr>
          <p:cNvPr id="72" name="Picture 71"/>
          <p:cNvPicPr>
            <a:picLocks noChangeAspect="1"/>
          </p:cNvPicPr>
          <p:nvPr/>
        </p:nvPicPr>
        <p:blipFill rotWithShape="1">
          <a:blip r:embed="rId4"/>
          <a:srcRect b="50540"/>
          <a:stretch/>
        </p:blipFill>
        <p:spPr>
          <a:xfrm>
            <a:off x="39471600" y="3429000"/>
            <a:ext cx="6238111" cy="2673023"/>
          </a:xfrm>
          <a:prstGeom prst="rect">
            <a:avLst/>
          </a:prstGeom>
        </p:spPr>
      </p:pic>
      <p:pic>
        <p:nvPicPr>
          <p:cNvPr id="76" name="Picture 75"/>
          <p:cNvPicPr>
            <a:picLocks noChangeAspect="1"/>
          </p:cNvPicPr>
          <p:nvPr/>
        </p:nvPicPr>
        <p:blipFill>
          <a:blip r:embed="rId4"/>
          <a:stretch>
            <a:fillRect/>
          </a:stretch>
        </p:blipFill>
        <p:spPr>
          <a:xfrm>
            <a:off x="-1981200" y="-2702223"/>
            <a:ext cx="6238111" cy="5404446"/>
          </a:xfrm>
          <a:prstGeom prst="rect">
            <a:avLst/>
          </a:prstGeom>
        </p:spPr>
      </p:pic>
      <p:pic>
        <p:nvPicPr>
          <p:cNvPr id="77" name="Picture 76"/>
          <p:cNvPicPr>
            <a:picLocks noChangeAspect="1"/>
          </p:cNvPicPr>
          <p:nvPr/>
        </p:nvPicPr>
        <p:blipFill rotWithShape="1">
          <a:blip r:embed="rId4"/>
          <a:srcRect b="50540"/>
          <a:stretch/>
        </p:blipFill>
        <p:spPr>
          <a:xfrm>
            <a:off x="-1981200" y="3429000"/>
            <a:ext cx="6238111" cy="2673023"/>
          </a:xfrm>
          <a:prstGeom prst="rect">
            <a:avLst/>
          </a:prstGeom>
        </p:spPr>
      </p:pic>
      <p:cxnSp>
        <p:nvCxnSpPr>
          <p:cNvPr id="79" name="Straight Connector 78"/>
          <p:cNvCxnSpPr/>
          <p:nvPr/>
        </p:nvCxnSpPr>
        <p:spPr>
          <a:xfrm flipH="1">
            <a:off x="6438900" y="3810000"/>
            <a:ext cx="31013400" cy="0"/>
          </a:xfrm>
          <a:prstGeom prst="line">
            <a:avLst/>
          </a:prstGeom>
          <a:ln w="63500">
            <a:solidFill>
              <a:srgbClr val="F36F21"/>
            </a:solidFill>
          </a:ln>
          <a:effectLst/>
        </p:spPr>
        <p:style>
          <a:lnRef idx="2">
            <a:schemeClr val="accent1"/>
          </a:lnRef>
          <a:fillRef idx="0">
            <a:schemeClr val="accent1"/>
          </a:fillRef>
          <a:effectRef idx="1">
            <a:schemeClr val="accent1"/>
          </a:effectRef>
          <a:fontRef idx="minor">
            <a:schemeClr val="tx1"/>
          </a:fontRef>
        </p:style>
      </p:cxnSp>
      <p:pic>
        <p:nvPicPr>
          <p:cNvPr id="5" name="Picture 4" descr="HealthOutcomes[white].ep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5800" y="31297716"/>
            <a:ext cx="5489504" cy="1116912"/>
          </a:xfrm>
          <a:prstGeom prst="rect">
            <a:avLst/>
          </a:prstGeom>
        </p:spPr>
      </p:pic>
      <p:sp>
        <p:nvSpPr>
          <p:cNvPr id="11" name="Rectangle 10"/>
          <p:cNvSpPr/>
          <p:nvPr/>
        </p:nvSpPr>
        <p:spPr>
          <a:xfrm>
            <a:off x="233227" y="29862781"/>
            <a:ext cx="4918911" cy="584775"/>
          </a:xfrm>
          <a:prstGeom prst="rect">
            <a:avLst/>
          </a:prstGeom>
          <a:solidFill>
            <a:srgbClr val="FFFFFF"/>
          </a:solidFill>
        </p:spPr>
        <p:txBody>
          <a:bodyPr wrap="none" lIns="91440" tIns="45720" rIns="91440" bIns="45720" anchor="t">
            <a:spAutoFit/>
          </a:bodyPr>
          <a:lstStyle/>
          <a:p>
            <a:r>
              <a:rPr lang="en-US" sz="3200" b="1" dirty="0">
                <a:solidFill>
                  <a:srgbClr val="F36F21"/>
                </a:solidFill>
                <a:latin typeface="Times New Roman"/>
                <a:ea typeface="ＭＳ Ｐゴシック"/>
                <a:cs typeface="Arial"/>
              </a:rPr>
              <a:t>Figure 1. Consort Diagram</a:t>
            </a:r>
            <a:endParaRPr lang="en-US" dirty="0">
              <a:latin typeface="Times New Roman"/>
              <a:cs typeface="Times New Roman"/>
            </a:endParaRPr>
          </a:p>
        </p:txBody>
      </p:sp>
      <p:sp>
        <p:nvSpPr>
          <p:cNvPr id="57" name="TextBox 56"/>
          <p:cNvSpPr txBox="1"/>
          <p:nvPr/>
        </p:nvSpPr>
        <p:spPr>
          <a:xfrm>
            <a:off x="31573797" y="20929099"/>
            <a:ext cx="12268200" cy="923330"/>
          </a:xfrm>
          <a:prstGeom prst="rect">
            <a:avLst/>
          </a:prstGeom>
          <a:noFill/>
        </p:spPr>
        <p:txBody>
          <a:bodyPr wrap="square" lIns="91440" tIns="45720" rIns="91440" bIns="45720" rtlCol="0" anchor="t">
            <a:spAutoFit/>
          </a:bodyPr>
          <a:lstStyle/>
          <a:p>
            <a:r>
              <a:rPr lang="en-US" sz="5400" b="1">
                <a:solidFill>
                  <a:srgbClr val="FFFFFF"/>
                </a:solidFill>
                <a:latin typeface="Arial"/>
                <a:ea typeface="ＭＳ Ｐゴシック"/>
                <a:cs typeface="Arial"/>
              </a:rPr>
              <a:t>Conclusion</a:t>
            </a:r>
            <a:endParaRPr lang="en-US"/>
          </a:p>
        </p:txBody>
      </p:sp>
      <p:sp>
        <p:nvSpPr>
          <p:cNvPr id="61" name="Rectangle 60"/>
          <p:cNvSpPr/>
          <p:nvPr/>
        </p:nvSpPr>
        <p:spPr>
          <a:xfrm>
            <a:off x="37157754" y="13484184"/>
            <a:ext cx="5826282" cy="707886"/>
          </a:xfrm>
          <a:prstGeom prst="rect">
            <a:avLst/>
          </a:prstGeom>
        </p:spPr>
        <p:txBody>
          <a:bodyPr wrap="square" lIns="91440" tIns="45720" rIns="91440" bIns="45720" anchor="t">
            <a:spAutoFit/>
          </a:bodyPr>
          <a:lstStyle/>
          <a:p>
            <a:endParaRPr lang="en-US" sz="4000" b="1" i="1">
              <a:solidFill>
                <a:srgbClr val="F36F21"/>
              </a:solidFill>
              <a:latin typeface="Arial"/>
              <a:ea typeface="ＭＳ Ｐゴシック"/>
              <a:cs typeface="Arial"/>
            </a:endParaRPr>
          </a:p>
        </p:txBody>
      </p:sp>
      <p:pic>
        <p:nvPicPr>
          <p:cNvPr id="2" name="Picture 1" descr="A graph of a number of patients&#10;&#10;AI-generated content may be incorrect.">
            <a:extLst>
              <a:ext uri="{FF2B5EF4-FFF2-40B4-BE49-F238E27FC236}">
                <a16:creationId xmlns:a16="http://schemas.microsoft.com/office/drawing/2014/main" id="{F91232C3-EE04-0AD4-543C-B76F119E1C09}"/>
              </a:ext>
            </a:extLst>
          </p:cNvPr>
          <p:cNvPicPr>
            <a:picLocks noChangeAspect="1"/>
          </p:cNvPicPr>
          <p:nvPr/>
        </p:nvPicPr>
        <p:blipFill>
          <a:blip r:embed="rId6"/>
          <a:stretch>
            <a:fillRect/>
          </a:stretch>
        </p:blipFill>
        <p:spPr>
          <a:xfrm>
            <a:off x="16294300" y="22096344"/>
            <a:ext cx="9871367" cy="6139069"/>
          </a:xfrm>
          <a:prstGeom prst="rect">
            <a:avLst/>
          </a:prstGeom>
        </p:spPr>
      </p:pic>
      <p:pic>
        <p:nvPicPr>
          <p:cNvPr id="18" name="Picture 17">
            <a:extLst>
              <a:ext uri="{FF2B5EF4-FFF2-40B4-BE49-F238E27FC236}">
                <a16:creationId xmlns:a16="http://schemas.microsoft.com/office/drawing/2014/main" id="{C647843D-EB0B-B7C1-24FF-0794919DC0EE}"/>
              </a:ext>
            </a:extLst>
          </p:cNvPr>
          <p:cNvPicPr>
            <a:picLocks noChangeAspect="1"/>
          </p:cNvPicPr>
          <p:nvPr/>
        </p:nvPicPr>
        <p:blipFill>
          <a:blip r:embed="rId7"/>
          <a:srcRect l="-502" t="3401" r="91" b="2681"/>
          <a:stretch>
            <a:fillRect/>
          </a:stretch>
        </p:blipFill>
        <p:spPr>
          <a:xfrm>
            <a:off x="16243288" y="7995568"/>
            <a:ext cx="9932508" cy="6253256"/>
          </a:xfrm>
          <a:prstGeom prst="rect">
            <a:avLst/>
          </a:prstGeom>
        </p:spPr>
      </p:pic>
      <p:sp>
        <p:nvSpPr>
          <p:cNvPr id="23" name="TextBox 22">
            <a:extLst>
              <a:ext uri="{FF2B5EF4-FFF2-40B4-BE49-F238E27FC236}">
                <a16:creationId xmlns:a16="http://schemas.microsoft.com/office/drawing/2014/main" id="{169AB2FF-8F03-2ACB-14CA-25F130C0B04D}"/>
              </a:ext>
            </a:extLst>
          </p:cNvPr>
          <p:cNvSpPr txBox="1"/>
          <p:nvPr/>
        </p:nvSpPr>
        <p:spPr>
          <a:xfrm>
            <a:off x="540657" y="19396049"/>
            <a:ext cx="10896600" cy="1107996"/>
          </a:xfrm>
          <a:prstGeom prst="rect">
            <a:avLst/>
          </a:prstGeom>
          <a:noFill/>
        </p:spPr>
        <p:txBody>
          <a:bodyPr wrap="square" lIns="91440" tIns="45720" rIns="91440" bIns="45720" rtlCol="0" anchor="t">
            <a:spAutoFit/>
          </a:bodyPr>
          <a:lstStyle/>
          <a:p>
            <a:r>
              <a:rPr lang="en-US" sz="6600" b="1" dirty="0">
                <a:solidFill>
                  <a:schemeClr val="bg1"/>
                </a:solidFill>
                <a:latin typeface="Arial"/>
                <a:ea typeface="ＭＳ Ｐゴシック"/>
                <a:cs typeface="Arial"/>
              </a:rPr>
              <a:t>Methods</a:t>
            </a:r>
            <a:endParaRPr lang="en-US" sz="6600" b="1" dirty="0">
              <a:solidFill>
                <a:schemeClr val="bg1"/>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30E10E66-9E8C-1B62-E25C-7472007BEF9E}"/>
              </a:ext>
            </a:extLst>
          </p:cNvPr>
          <p:cNvSpPr txBox="1"/>
          <p:nvPr/>
        </p:nvSpPr>
        <p:spPr>
          <a:xfrm>
            <a:off x="26712716" y="9600190"/>
            <a:ext cx="3686514"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accent1"/>
                </a:solidFill>
                <a:latin typeface="Times New Roman"/>
                <a:ea typeface="ＭＳ Ｐゴシック"/>
                <a:cs typeface="Times New Roman"/>
              </a:rPr>
              <a:t>Figure 1: Percentage of nutrient intake for BEACH participants across all study visits</a:t>
            </a:r>
            <a:endParaRPr lang="en-US" sz="3200" b="1">
              <a:solidFill>
                <a:schemeClr val="accent1"/>
              </a:solidFill>
              <a:cs typeface="Times New Roman"/>
            </a:endParaRPr>
          </a:p>
        </p:txBody>
      </p:sp>
      <p:sp>
        <p:nvSpPr>
          <p:cNvPr id="28" name="TextBox 27">
            <a:extLst>
              <a:ext uri="{FF2B5EF4-FFF2-40B4-BE49-F238E27FC236}">
                <a16:creationId xmlns:a16="http://schemas.microsoft.com/office/drawing/2014/main" id="{8F8E818F-9A2A-589E-7AE8-4CED36072A88}"/>
              </a:ext>
            </a:extLst>
          </p:cNvPr>
          <p:cNvSpPr txBox="1"/>
          <p:nvPr/>
        </p:nvSpPr>
        <p:spPr>
          <a:xfrm>
            <a:off x="17716951" y="28234358"/>
            <a:ext cx="702606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accent1"/>
                </a:solidFill>
                <a:latin typeface="Times New Roman"/>
                <a:ea typeface="ＭＳ Ｐゴシック"/>
                <a:cs typeface="Times New Roman"/>
              </a:rPr>
              <a:t>Figure 4: Average Gestation period for all participants in the BEACH study</a:t>
            </a:r>
            <a:endParaRPr lang="en-US" sz="3200" b="1">
              <a:solidFill>
                <a:schemeClr val="accent1"/>
              </a:solidFill>
            </a:endParaRPr>
          </a:p>
        </p:txBody>
      </p:sp>
      <p:sp>
        <p:nvSpPr>
          <p:cNvPr id="29" name="TextBox 28">
            <a:extLst>
              <a:ext uri="{FF2B5EF4-FFF2-40B4-BE49-F238E27FC236}">
                <a16:creationId xmlns:a16="http://schemas.microsoft.com/office/drawing/2014/main" id="{133F00ED-9C5B-80DF-52DB-8B0BCCC29FCA}"/>
              </a:ext>
            </a:extLst>
          </p:cNvPr>
          <p:cNvSpPr txBox="1"/>
          <p:nvPr/>
        </p:nvSpPr>
        <p:spPr>
          <a:xfrm>
            <a:off x="12555832" y="20427622"/>
            <a:ext cx="8023588"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accent1"/>
                </a:solidFill>
                <a:latin typeface="Times New Roman"/>
                <a:ea typeface="ＭＳ Ｐゴシック"/>
                <a:cs typeface="Times New Roman"/>
              </a:rPr>
              <a:t>Figure 2: Average gestation period for participants who recorded their daily food intake, and tracked their macros through the whole study</a:t>
            </a:r>
            <a:endParaRPr lang="en-US" sz="3200" err="1">
              <a:solidFill>
                <a:schemeClr val="accent1"/>
              </a:solidFill>
              <a:cs typeface="Times New Roman"/>
            </a:endParaRPr>
          </a:p>
        </p:txBody>
      </p:sp>
      <p:sp>
        <p:nvSpPr>
          <p:cNvPr id="30" name="TextBox 29">
            <a:extLst>
              <a:ext uri="{FF2B5EF4-FFF2-40B4-BE49-F238E27FC236}">
                <a16:creationId xmlns:a16="http://schemas.microsoft.com/office/drawing/2014/main" id="{5F862221-BB9E-C41E-CAF2-E26DF20DA596}"/>
              </a:ext>
            </a:extLst>
          </p:cNvPr>
          <p:cNvSpPr txBox="1"/>
          <p:nvPr/>
        </p:nvSpPr>
        <p:spPr>
          <a:xfrm>
            <a:off x="23159980" y="20427624"/>
            <a:ext cx="8153701"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accent1"/>
                </a:solidFill>
                <a:latin typeface="Times New Roman"/>
                <a:ea typeface="ＭＳ Ｐゴシック"/>
                <a:cs typeface="Times New Roman"/>
              </a:rPr>
              <a:t>Figure 3: Average gestation period for participants who did not record their daily food intake and track their macros the whole study. </a:t>
            </a:r>
            <a:endParaRPr lang="en-US" sz="3200" b="1">
              <a:solidFill>
                <a:schemeClr val="accent1"/>
              </a:solidFill>
            </a:endParaRPr>
          </a:p>
        </p:txBody>
      </p:sp>
      <p:pic>
        <p:nvPicPr>
          <p:cNvPr id="4" name="Picture 3" descr="A diagram of a group of participants&#10;&#10;AI-generated content may be incorrect.">
            <a:extLst>
              <a:ext uri="{FF2B5EF4-FFF2-40B4-BE49-F238E27FC236}">
                <a16:creationId xmlns:a16="http://schemas.microsoft.com/office/drawing/2014/main" id="{B27882D8-EE13-CF79-BC51-40CFFC8346E7}"/>
              </a:ext>
            </a:extLst>
          </p:cNvPr>
          <p:cNvPicPr>
            <a:picLocks noChangeAspect="1"/>
          </p:cNvPicPr>
          <p:nvPr/>
        </p:nvPicPr>
        <p:blipFill>
          <a:blip r:embed="rId8"/>
          <a:stretch>
            <a:fillRect/>
          </a:stretch>
        </p:blipFill>
        <p:spPr>
          <a:xfrm>
            <a:off x="1048796" y="20929099"/>
            <a:ext cx="10388461" cy="8647456"/>
          </a:xfrm>
          <a:prstGeom prst="rect">
            <a:avLst/>
          </a:prstGeom>
        </p:spPr>
      </p:pic>
      <p:sp>
        <p:nvSpPr>
          <p:cNvPr id="31" name="TextBox 30">
            <a:extLst>
              <a:ext uri="{FF2B5EF4-FFF2-40B4-BE49-F238E27FC236}">
                <a16:creationId xmlns:a16="http://schemas.microsoft.com/office/drawing/2014/main" id="{CC0EFDA5-26A0-4369-65C0-7B27A79289CA}"/>
              </a:ext>
            </a:extLst>
          </p:cNvPr>
          <p:cNvSpPr txBox="1"/>
          <p:nvPr/>
        </p:nvSpPr>
        <p:spPr>
          <a:xfrm>
            <a:off x="1951683" y="-2428762"/>
            <a:ext cx="2743200" cy="365760"/>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3" name="TextBox 32">
            <a:extLst>
              <a:ext uri="{FF2B5EF4-FFF2-40B4-BE49-F238E27FC236}">
                <a16:creationId xmlns:a16="http://schemas.microsoft.com/office/drawing/2014/main" id="{FAFC3553-B2FE-61DC-1215-E3E8948DF91F}"/>
              </a:ext>
            </a:extLst>
          </p:cNvPr>
          <p:cNvSpPr txBox="1"/>
          <p:nvPr/>
        </p:nvSpPr>
        <p:spPr>
          <a:xfrm>
            <a:off x="12275666" y="29570394"/>
            <a:ext cx="1088257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latin typeface="Arial" panose="020B0604020202020204" pitchFamily="34" charset="0"/>
                <a:ea typeface="ＭＳ Ｐゴシック"/>
                <a:cs typeface="Arial" panose="020B0604020202020204" pitchFamily="34" charset="0"/>
              </a:rPr>
              <a:t>T-test p-value: 0.08</a:t>
            </a:r>
            <a:endParaRPr lang="en-US" sz="3600" b="1" dirty="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3DBD348A-9B46-3FF5-B4D4-E08E51A37CAE}"/>
              </a:ext>
            </a:extLst>
          </p:cNvPr>
          <p:cNvSpPr txBox="1"/>
          <p:nvPr/>
        </p:nvSpPr>
        <p:spPr>
          <a:xfrm>
            <a:off x="31566608" y="8007806"/>
            <a:ext cx="11162033" cy="166095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a:buChar char="•"/>
            </a:pPr>
            <a:r>
              <a:rPr lang="en-US" sz="3600" dirty="0">
                <a:solidFill>
                  <a:srgbClr val="000000"/>
                </a:solidFill>
                <a:latin typeface="Arial" panose="020B0604020202020204" pitchFamily="34" charset="0"/>
                <a:ea typeface="ＭＳ Ｐゴシック"/>
                <a:cs typeface="Arial" panose="020B0604020202020204" pitchFamily="34" charset="0"/>
              </a:rPr>
              <a:t>Based on the Welch’s t-test (p = 0.08402), we fail to reject the null hypothesis and conclude that the average gestation period is very similar between the two groups. </a:t>
            </a:r>
          </a:p>
          <a:p>
            <a:pPr>
              <a:lnSpc>
                <a:spcPct val="150000"/>
              </a:lnSpc>
            </a:pPr>
            <a:endParaRPr lang="en-US" sz="3600" dirty="0">
              <a:solidFill>
                <a:srgbClr val="000000"/>
              </a:solidFill>
              <a:latin typeface="Arial" panose="020B0604020202020204" pitchFamily="34" charset="0"/>
              <a:ea typeface="ＭＳ Ｐゴシック"/>
              <a:cs typeface="Arial" panose="020B0604020202020204" pitchFamily="34" charset="0"/>
            </a:endParaRPr>
          </a:p>
          <a:p>
            <a:pPr marL="342900" indent="-342900">
              <a:lnSpc>
                <a:spcPct val="150000"/>
              </a:lnSpc>
              <a:buFont typeface="Arial"/>
              <a:buChar char="•"/>
            </a:pPr>
            <a:r>
              <a:rPr lang="en-US" sz="3600" dirty="0">
                <a:solidFill>
                  <a:srgbClr val="000000"/>
                </a:solidFill>
                <a:latin typeface="Arial" panose="020B0604020202020204" pitchFamily="34" charset="0"/>
                <a:ea typeface="ＭＳ Ｐゴシック"/>
                <a:cs typeface="Arial" panose="020B0604020202020204" pitchFamily="34" charset="0"/>
              </a:rPr>
              <a:t>The study was limited by a </a:t>
            </a:r>
            <a:r>
              <a:rPr lang="en-US" sz="3600" b="1" dirty="0">
                <a:solidFill>
                  <a:srgbClr val="000000"/>
                </a:solidFill>
                <a:latin typeface="Arial" panose="020B0604020202020204" pitchFamily="34" charset="0"/>
                <a:ea typeface="ＭＳ Ｐゴシック"/>
                <a:cs typeface="Arial" panose="020B0604020202020204" pitchFamily="34" charset="0"/>
              </a:rPr>
              <a:t>small sample size</a:t>
            </a:r>
            <a:r>
              <a:rPr lang="en-US" sz="3600" dirty="0">
                <a:solidFill>
                  <a:srgbClr val="000000"/>
                </a:solidFill>
                <a:latin typeface="Arial" panose="020B0604020202020204" pitchFamily="34" charset="0"/>
                <a:ea typeface="ＭＳ Ｐゴシック"/>
                <a:cs typeface="Arial" panose="020B0604020202020204" pitchFamily="34" charset="0"/>
              </a:rPr>
              <a:t> and </a:t>
            </a:r>
            <a:r>
              <a:rPr lang="en-US" sz="3600" b="1" dirty="0">
                <a:solidFill>
                  <a:srgbClr val="000000"/>
                </a:solidFill>
                <a:latin typeface="Arial" panose="020B0604020202020204" pitchFamily="34" charset="0"/>
                <a:ea typeface="ＭＳ Ｐゴシック"/>
                <a:cs typeface="Arial" panose="020B0604020202020204" pitchFamily="34" charset="0"/>
              </a:rPr>
              <a:t>incomplete dietary data</a:t>
            </a:r>
            <a:r>
              <a:rPr lang="en-US" sz="3600" dirty="0">
                <a:solidFill>
                  <a:srgbClr val="000000"/>
                </a:solidFill>
                <a:latin typeface="Arial" panose="020B0604020202020204" pitchFamily="34" charset="0"/>
                <a:ea typeface="ＭＳ Ｐゴシック"/>
                <a:cs typeface="Arial" panose="020B0604020202020204" pitchFamily="34" charset="0"/>
              </a:rPr>
              <a:t>, which reduced statistical power, and the use of </a:t>
            </a:r>
            <a:r>
              <a:rPr lang="en-US" sz="3600" b="1" dirty="0">
                <a:solidFill>
                  <a:srgbClr val="000000"/>
                </a:solidFill>
                <a:latin typeface="Arial" panose="020B0604020202020204" pitchFamily="34" charset="0"/>
                <a:ea typeface="ＭＳ Ｐゴシック"/>
                <a:cs typeface="Arial" panose="020B0604020202020204" pitchFamily="34" charset="0"/>
              </a:rPr>
              <a:t>self-reported macronutrient intake</a:t>
            </a:r>
            <a:r>
              <a:rPr lang="en-US" sz="3600" dirty="0">
                <a:solidFill>
                  <a:srgbClr val="000000"/>
                </a:solidFill>
                <a:latin typeface="Arial" panose="020B0604020202020204" pitchFamily="34" charset="0"/>
                <a:ea typeface="ＭＳ Ｐゴシック"/>
                <a:cs typeface="Arial" panose="020B0604020202020204" pitchFamily="34" charset="0"/>
              </a:rPr>
              <a:t> introduced potential bias from underreporting and inconsistent logging.</a:t>
            </a:r>
          </a:p>
          <a:p>
            <a:pPr>
              <a:lnSpc>
                <a:spcPct val="150000"/>
              </a:lnSpc>
            </a:pPr>
            <a:endParaRPr lang="en-US" sz="3600" dirty="0">
              <a:solidFill>
                <a:srgbClr val="000000"/>
              </a:solidFill>
              <a:latin typeface="Arial" panose="020B0604020202020204" pitchFamily="34" charset="0"/>
              <a:ea typeface="ＭＳ Ｐゴシック"/>
              <a:cs typeface="Arial" panose="020B0604020202020204" pitchFamily="34" charset="0"/>
            </a:endParaRPr>
          </a:p>
          <a:p>
            <a:pPr marL="342900" indent="-342900">
              <a:lnSpc>
                <a:spcPct val="150000"/>
              </a:lnSpc>
              <a:buFont typeface="Arial"/>
              <a:buChar char="•"/>
            </a:pPr>
            <a:r>
              <a:rPr lang="en-US" sz="3600" dirty="0">
                <a:solidFill>
                  <a:srgbClr val="000000"/>
                </a:solidFill>
                <a:latin typeface="Arial" panose="020B0604020202020204" pitchFamily="34" charset="0"/>
                <a:ea typeface="ＭＳ Ｐゴシック"/>
                <a:cs typeface="Arial" panose="020B0604020202020204" pitchFamily="34" charset="0"/>
              </a:rPr>
              <a:t>Future research should </a:t>
            </a:r>
            <a:r>
              <a:rPr lang="en-US" sz="3600" b="1" dirty="0">
                <a:solidFill>
                  <a:srgbClr val="000000"/>
                </a:solidFill>
                <a:latin typeface="Arial" panose="020B0604020202020204" pitchFamily="34" charset="0"/>
                <a:ea typeface="ＭＳ Ｐゴシック"/>
                <a:cs typeface="Arial" panose="020B0604020202020204" pitchFamily="34" charset="0"/>
              </a:rPr>
              <a:t>increase sample size</a:t>
            </a:r>
            <a:r>
              <a:rPr lang="en-US" sz="3600" dirty="0">
                <a:solidFill>
                  <a:srgbClr val="000000"/>
                </a:solidFill>
                <a:latin typeface="Arial" panose="020B0604020202020204" pitchFamily="34" charset="0"/>
                <a:ea typeface="ＭＳ Ｐゴシック"/>
                <a:cs typeface="Arial" panose="020B0604020202020204" pitchFamily="34" charset="0"/>
              </a:rPr>
              <a:t> and use more accurate </a:t>
            </a:r>
            <a:r>
              <a:rPr lang="en-US" sz="3600" b="1" dirty="0">
                <a:solidFill>
                  <a:srgbClr val="000000"/>
                </a:solidFill>
                <a:latin typeface="Arial" panose="020B0604020202020204" pitchFamily="34" charset="0"/>
                <a:ea typeface="ＭＳ Ｐゴシック"/>
                <a:cs typeface="Arial" panose="020B0604020202020204" pitchFamily="34" charset="0"/>
              </a:rPr>
              <a:t>dietary tracking tools</a:t>
            </a:r>
            <a:r>
              <a:rPr lang="en-US" sz="3600" dirty="0">
                <a:solidFill>
                  <a:srgbClr val="000000"/>
                </a:solidFill>
                <a:latin typeface="Arial" panose="020B0604020202020204" pitchFamily="34" charset="0"/>
                <a:ea typeface="ＭＳ Ｐゴシック"/>
                <a:cs typeface="Arial" panose="020B0604020202020204" pitchFamily="34" charset="0"/>
              </a:rPr>
              <a:t> to improve the reliability of nutrient data. </a:t>
            </a:r>
          </a:p>
          <a:p>
            <a:pPr marL="342900" indent="-342900">
              <a:lnSpc>
                <a:spcPct val="150000"/>
              </a:lnSpc>
              <a:buFont typeface="Arial"/>
              <a:buChar char="•"/>
            </a:pPr>
            <a:endParaRPr lang="en-US" sz="3600" dirty="0">
              <a:solidFill>
                <a:srgbClr val="000000"/>
              </a:solidFill>
              <a:latin typeface="Arial" panose="020B0604020202020204" pitchFamily="34" charset="0"/>
              <a:ea typeface="ＭＳ Ｐゴシック"/>
              <a:cs typeface="Arial" panose="020B0604020202020204" pitchFamily="34" charset="0"/>
            </a:endParaRPr>
          </a:p>
          <a:p>
            <a:pPr marL="342900" indent="-342900">
              <a:lnSpc>
                <a:spcPct val="150000"/>
              </a:lnSpc>
              <a:buFont typeface="Arial"/>
              <a:buChar char="•"/>
            </a:pPr>
            <a:r>
              <a:rPr lang="en-US" sz="3600" dirty="0">
                <a:solidFill>
                  <a:srgbClr val="000000"/>
                </a:solidFill>
                <a:latin typeface="Arial" panose="020B0604020202020204" pitchFamily="34" charset="0"/>
                <a:ea typeface="ＭＳ Ｐゴシック"/>
                <a:cs typeface="Arial" panose="020B0604020202020204" pitchFamily="34" charset="0"/>
              </a:rPr>
              <a:t>A major priority is to examine </a:t>
            </a:r>
            <a:r>
              <a:rPr lang="en-US" sz="3600" b="1" dirty="0">
                <a:solidFill>
                  <a:srgbClr val="000000"/>
                </a:solidFill>
                <a:latin typeface="Arial" panose="020B0604020202020204" pitchFamily="34" charset="0"/>
                <a:ea typeface="ＭＳ Ｐゴシック"/>
                <a:cs typeface="Arial" panose="020B0604020202020204" pitchFamily="34" charset="0"/>
              </a:rPr>
              <a:t>in greater depth how specific macronutrient patterns influence maternal BMI</a:t>
            </a:r>
            <a:r>
              <a:rPr lang="en-US" sz="3600" dirty="0">
                <a:solidFill>
                  <a:srgbClr val="000000"/>
                </a:solidFill>
                <a:latin typeface="Arial" panose="020B0604020202020204" pitchFamily="34" charset="0"/>
                <a:ea typeface="ＭＳ Ｐゴシック"/>
                <a:cs typeface="Arial" panose="020B0604020202020204" pitchFamily="34" charset="0"/>
              </a:rPr>
              <a:t>, including how protein, carbohydrate, and fat intake relate to </a:t>
            </a:r>
            <a:r>
              <a:rPr lang="en-US" sz="3600" b="1" dirty="0">
                <a:solidFill>
                  <a:srgbClr val="000000"/>
                </a:solidFill>
                <a:latin typeface="Arial" panose="020B0604020202020204" pitchFamily="34" charset="0"/>
                <a:ea typeface="ＭＳ Ｐゴシック"/>
                <a:cs typeface="Arial" panose="020B0604020202020204" pitchFamily="34" charset="0"/>
              </a:rPr>
              <a:t>BMI changes</a:t>
            </a:r>
            <a:r>
              <a:rPr lang="en-US" sz="3600" dirty="0">
                <a:solidFill>
                  <a:srgbClr val="000000"/>
                </a:solidFill>
                <a:latin typeface="Arial" panose="020B0604020202020204" pitchFamily="34" charset="0"/>
                <a:ea typeface="ＭＳ Ｐゴシック"/>
                <a:cs typeface="Arial" panose="020B0604020202020204" pitchFamily="34" charset="0"/>
              </a:rPr>
              <a:t> across pregnancy. </a:t>
            </a:r>
          </a:p>
        </p:txBody>
      </p:sp>
      <p:pic>
        <p:nvPicPr>
          <p:cNvPr id="42" name="Picture 41" descr="A graph of gestation days without recorded food&#10;&#10;AI-generated content may be incorrect.">
            <a:extLst>
              <a:ext uri="{FF2B5EF4-FFF2-40B4-BE49-F238E27FC236}">
                <a16:creationId xmlns:a16="http://schemas.microsoft.com/office/drawing/2014/main" id="{8897F1D9-1B98-900B-3297-7E467C200E05}"/>
              </a:ext>
            </a:extLst>
          </p:cNvPr>
          <p:cNvPicPr>
            <a:picLocks noChangeAspect="1"/>
          </p:cNvPicPr>
          <p:nvPr/>
        </p:nvPicPr>
        <p:blipFill>
          <a:blip r:embed="rId9"/>
          <a:stretch>
            <a:fillRect/>
          </a:stretch>
        </p:blipFill>
        <p:spPr>
          <a:xfrm>
            <a:off x="21860959" y="14157874"/>
            <a:ext cx="9833942" cy="6125518"/>
          </a:xfrm>
          <a:prstGeom prst="rect">
            <a:avLst/>
          </a:prstGeom>
        </p:spPr>
      </p:pic>
      <p:pic>
        <p:nvPicPr>
          <p:cNvPr id="48" name="Picture 47" descr="A graph of a number of patients&#10;&#10;AI-generated content may be incorrect.">
            <a:extLst>
              <a:ext uri="{FF2B5EF4-FFF2-40B4-BE49-F238E27FC236}">
                <a16:creationId xmlns:a16="http://schemas.microsoft.com/office/drawing/2014/main" id="{09A125C1-1F6B-4187-ED47-BED8FDD0600C}"/>
              </a:ext>
            </a:extLst>
          </p:cNvPr>
          <p:cNvPicPr>
            <a:picLocks noChangeAspect="1"/>
          </p:cNvPicPr>
          <p:nvPr/>
        </p:nvPicPr>
        <p:blipFill>
          <a:blip r:embed="rId10"/>
          <a:stretch>
            <a:fillRect/>
          </a:stretch>
        </p:blipFill>
        <p:spPr>
          <a:xfrm>
            <a:off x="12002671" y="14152984"/>
            <a:ext cx="9747200" cy="6038776"/>
          </a:xfrm>
          <a:prstGeom prst="rect">
            <a:avLst/>
          </a:prstGeom>
        </p:spPr>
      </p:pic>
      <p:sp>
        <p:nvSpPr>
          <p:cNvPr id="6" name="TextBox 5">
            <a:extLst>
              <a:ext uri="{FF2B5EF4-FFF2-40B4-BE49-F238E27FC236}">
                <a16:creationId xmlns:a16="http://schemas.microsoft.com/office/drawing/2014/main" id="{62DC9DAB-679B-63F9-F376-6C2A48FEA3B4}"/>
              </a:ext>
            </a:extLst>
          </p:cNvPr>
          <p:cNvSpPr txBox="1"/>
          <p:nvPr/>
        </p:nvSpPr>
        <p:spPr>
          <a:xfrm>
            <a:off x="583108" y="8083718"/>
            <a:ext cx="12191999" cy="4975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Font typeface="Arial"/>
              <a:buChar char="•"/>
            </a:pPr>
            <a:r>
              <a:rPr lang="en-US" sz="3600" dirty="0">
                <a:latin typeface="Arial" panose="020B0604020202020204" pitchFamily="34" charset="0"/>
                <a:ea typeface="ＭＳ Ｐゴシック"/>
                <a:cs typeface="Arial" panose="020B0604020202020204" pitchFamily="34" charset="0"/>
              </a:rPr>
              <a:t>Maternal </a:t>
            </a:r>
            <a:r>
              <a:rPr lang="en-US" sz="3600" b="1" dirty="0">
                <a:latin typeface="Arial" panose="020B0604020202020204" pitchFamily="34" charset="0"/>
                <a:ea typeface="ＭＳ Ｐゴシック"/>
                <a:cs typeface="Arial" panose="020B0604020202020204" pitchFamily="34" charset="0"/>
              </a:rPr>
              <a:t>pre-pregnancy BMI</a:t>
            </a:r>
            <a:r>
              <a:rPr lang="en-US" sz="3600" dirty="0">
                <a:latin typeface="Arial" panose="020B0604020202020204" pitchFamily="34" charset="0"/>
                <a:ea typeface="ＭＳ Ｐゴシック"/>
                <a:cs typeface="Arial" panose="020B0604020202020204" pitchFamily="34" charset="0"/>
              </a:rPr>
              <a:t> shapes </a:t>
            </a:r>
            <a:r>
              <a:rPr lang="en-US" sz="3600" b="1" dirty="0">
                <a:latin typeface="Arial" panose="020B0604020202020204" pitchFamily="34" charset="0"/>
                <a:ea typeface="ＭＳ Ｐゴシック"/>
                <a:cs typeface="Arial" panose="020B0604020202020204" pitchFamily="34" charset="0"/>
              </a:rPr>
              <a:t>maternal health</a:t>
            </a:r>
            <a:r>
              <a:rPr lang="en-US" sz="3600" dirty="0">
                <a:latin typeface="Arial" panose="020B0604020202020204" pitchFamily="34" charset="0"/>
                <a:ea typeface="ＭＳ Ｐゴシック"/>
                <a:cs typeface="Arial" panose="020B0604020202020204" pitchFamily="34" charset="0"/>
              </a:rPr>
              <a:t>, </a:t>
            </a:r>
            <a:r>
              <a:rPr lang="en-US" sz="3600" b="1" dirty="0">
                <a:latin typeface="Arial" panose="020B0604020202020204" pitchFamily="34" charset="0"/>
                <a:ea typeface="ＭＳ Ｐゴシック"/>
                <a:cs typeface="Arial" panose="020B0604020202020204" pitchFamily="34" charset="0"/>
              </a:rPr>
              <a:t>pregnancy outcomes</a:t>
            </a:r>
            <a:r>
              <a:rPr lang="en-US" sz="3600" dirty="0">
                <a:latin typeface="Arial" panose="020B0604020202020204" pitchFamily="34" charset="0"/>
                <a:ea typeface="ＭＳ Ｐゴシック"/>
                <a:cs typeface="Arial" panose="020B0604020202020204" pitchFamily="34" charset="0"/>
              </a:rPr>
              <a:t>, and the </a:t>
            </a:r>
            <a:r>
              <a:rPr lang="en-US" sz="3600" b="1" dirty="0">
                <a:latin typeface="Arial" panose="020B0604020202020204" pitchFamily="34" charset="0"/>
                <a:ea typeface="ＭＳ Ｐゴシック"/>
                <a:cs typeface="Arial" panose="020B0604020202020204" pitchFamily="34" charset="0"/>
              </a:rPr>
              <a:t>nutritional environment</a:t>
            </a:r>
            <a:r>
              <a:rPr lang="en-US" sz="3600" dirty="0">
                <a:latin typeface="Arial" panose="020B0604020202020204" pitchFamily="34" charset="0"/>
                <a:ea typeface="ＭＳ Ｐゴシック"/>
                <a:cs typeface="Arial" panose="020B0604020202020204" pitchFamily="34" charset="0"/>
              </a:rPr>
              <a:t> infants experience. </a:t>
            </a:r>
          </a:p>
          <a:p>
            <a:pPr marL="457200" indent="-457200">
              <a:lnSpc>
                <a:spcPct val="150000"/>
              </a:lnSpc>
              <a:buFont typeface="Arial"/>
              <a:buChar char="•"/>
            </a:pPr>
            <a:r>
              <a:rPr lang="en-US" sz="3600" dirty="0">
                <a:latin typeface="Arial" panose="020B0604020202020204" pitchFamily="34" charset="0"/>
                <a:ea typeface="ＭＳ Ｐゴシック"/>
                <a:cs typeface="Arial" panose="020B0604020202020204" pitchFamily="34" charset="0"/>
              </a:rPr>
              <a:t>Maternal diet quality impacts  </a:t>
            </a:r>
            <a:r>
              <a:rPr lang="en-US" altLang="en-US" sz="3600" dirty="0">
                <a:latin typeface="Arial" panose="020B0604020202020204" pitchFamily="34" charset="0"/>
                <a:cs typeface="Arial" panose="020B0604020202020204" pitchFamily="34" charset="0"/>
              </a:rPr>
              <a:t>fetal growth, metabolic programming, and early-life nutritional exposures that shape long-term health.</a:t>
            </a:r>
            <a:endParaRPr lang="en-US" sz="3600" dirty="0">
              <a:latin typeface="Arial" panose="020B0604020202020204" pitchFamily="34" charset="0"/>
              <a:ea typeface="ＭＳ Ｐゴシック"/>
              <a:cs typeface="Arial" panose="020B0604020202020204" pitchFamily="34" charset="0"/>
            </a:endParaRPr>
          </a:p>
        </p:txBody>
      </p:sp>
      <p:sp>
        <p:nvSpPr>
          <p:cNvPr id="12" name="TextBox 11">
            <a:extLst>
              <a:ext uri="{FF2B5EF4-FFF2-40B4-BE49-F238E27FC236}">
                <a16:creationId xmlns:a16="http://schemas.microsoft.com/office/drawing/2014/main" id="{66276301-D92D-8F79-1505-9631EE31C58E}"/>
              </a:ext>
            </a:extLst>
          </p:cNvPr>
          <p:cNvSpPr txBox="1"/>
          <p:nvPr/>
        </p:nvSpPr>
        <p:spPr>
          <a:xfrm>
            <a:off x="32064525" y="25728936"/>
            <a:ext cx="10505872" cy="4975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3600" dirty="0">
                <a:latin typeface="Arial" panose="020B0604020202020204" pitchFamily="34" charset="0"/>
                <a:ea typeface="ＭＳ Ｐゴシック"/>
                <a:cs typeface="Arial" panose="020B0604020202020204" pitchFamily="34" charset="0"/>
              </a:rPr>
              <a:t>The was no significant connection or difference found between the gestation days of those who complied and didn’t comply with the study. This means that data that was not collected probably didn't include significant outliers and conclusion can be drawn from available data. </a:t>
            </a:r>
            <a:endParaRPr lang="en-US" sz="3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CB9B251D-4F03-1A8F-F2AC-F0B98AB7F77B}"/>
              </a:ext>
            </a:extLst>
          </p:cNvPr>
          <p:cNvSpPr/>
          <p:nvPr/>
        </p:nvSpPr>
        <p:spPr>
          <a:xfrm>
            <a:off x="128602" y="13268734"/>
            <a:ext cx="11591362" cy="104618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endParaRPr lang="en-US" sz="6000">
              <a:cs typeface="Times New Roman"/>
            </a:endParaRPr>
          </a:p>
        </p:txBody>
      </p:sp>
      <p:sp>
        <p:nvSpPr>
          <p:cNvPr id="9" name="TextBox 8">
            <a:extLst>
              <a:ext uri="{FF2B5EF4-FFF2-40B4-BE49-F238E27FC236}">
                <a16:creationId xmlns:a16="http://schemas.microsoft.com/office/drawing/2014/main" id="{ED242082-6D09-DF61-3813-7FBC7054CC2F}"/>
              </a:ext>
            </a:extLst>
          </p:cNvPr>
          <p:cNvSpPr txBox="1"/>
          <p:nvPr/>
        </p:nvSpPr>
        <p:spPr>
          <a:xfrm>
            <a:off x="233227" y="13202370"/>
            <a:ext cx="10896600" cy="1107996"/>
          </a:xfrm>
          <a:prstGeom prst="rect">
            <a:avLst/>
          </a:prstGeom>
          <a:noFill/>
        </p:spPr>
        <p:txBody>
          <a:bodyPr wrap="square" lIns="91440" tIns="45720" rIns="91440" bIns="45720" rtlCol="0" anchor="t">
            <a:spAutoFit/>
          </a:bodyPr>
          <a:lstStyle/>
          <a:p>
            <a:r>
              <a:rPr lang="en-US" sz="6600" b="1" dirty="0">
                <a:solidFill>
                  <a:schemeClr val="bg1"/>
                </a:solidFill>
                <a:latin typeface="Arial"/>
                <a:ea typeface="ＭＳ Ｐゴシック"/>
                <a:cs typeface="Arial"/>
              </a:rPr>
              <a:t>Objectives</a:t>
            </a:r>
            <a:endParaRPr lang="en-US" sz="6600" b="1" dirty="0">
              <a:solidFill>
                <a:schemeClr val="bg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46DD309-CD5E-6DC8-59FB-E87394EC2D6C}"/>
              </a:ext>
            </a:extLst>
          </p:cNvPr>
          <p:cNvSpPr txBox="1"/>
          <p:nvPr/>
        </p:nvSpPr>
        <p:spPr>
          <a:xfrm>
            <a:off x="265312" y="14537171"/>
            <a:ext cx="11171946" cy="16516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Font typeface="Arial"/>
              <a:buChar char="•"/>
            </a:pPr>
            <a:r>
              <a:rPr lang="en-US" sz="3600" dirty="0">
                <a:latin typeface="Arial" panose="020B0604020202020204" pitchFamily="34" charset="0"/>
                <a:ea typeface="ＭＳ Ｐゴシック"/>
                <a:cs typeface="Arial" panose="020B0604020202020204" pitchFamily="34" charset="0"/>
              </a:rPr>
              <a:t>Evaluate dietary patterns in longitudinal birth study called the BEACH study. </a:t>
            </a:r>
          </a:p>
        </p:txBody>
      </p:sp>
    </p:spTree>
    <p:extLst>
      <p:ext uri="{BB962C8B-B14F-4D97-AF65-F5344CB8AC3E}">
        <p14:creationId xmlns:p14="http://schemas.microsoft.com/office/powerpoint/2010/main" val="1271425980"/>
      </p:ext>
    </p:extLst>
  </p:cSld>
  <p:clrMapOvr>
    <a:masterClrMapping/>
  </p:clrMapOvr>
</p:sld>
</file>

<file path=ppt/theme/theme1.xml><?xml version="1.0" encoding="utf-8"?>
<a:theme xmlns:a="http://schemas.openxmlformats.org/drawingml/2006/main" name="Default Design">
  <a:themeElements>
    <a:clrScheme name="HOP Template">
      <a:dk1>
        <a:srgbClr val="333333"/>
      </a:dk1>
      <a:lt1>
        <a:srgbClr val="FFFFFF"/>
      </a:lt1>
      <a:dk2>
        <a:srgbClr val="F36F21"/>
      </a:dk2>
      <a:lt2>
        <a:srgbClr val="162C55"/>
      </a:lt2>
      <a:accent1>
        <a:srgbClr val="F36F21"/>
      </a:accent1>
      <a:accent2>
        <a:srgbClr val="162C55"/>
      </a:accent2>
      <a:accent3>
        <a:srgbClr val="808080"/>
      </a:accent3>
      <a:accent4>
        <a:srgbClr val="008040"/>
      </a:accent4>
      <a:accent5>
        <a:srgbClr val="005999"/>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353</Words>
  <Application>Microsoft Macintosh PowerPoint</Application>
  <PresentationFormat>Custom</PresentationFormat>
  <Paragraphs>32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ＭＳ Ｐゴシック</vt:lpstr>
      <vt:lpstr>Arial</vt:lpstr>
      <vt:lpstr>Calibri</vt:lpstr>
      <vt:lpstr>Times New Roman</vt:lpstr>
      <vt:lpstr>Default Design</vt:lpstr>
      <vt:lpstr>PowerPoint Presentation</vt:lpstr>
    </vt:vector>
  </TitlesOfParts>
  <Company>IT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Training</dc:creator>
  <cp:lastModifiedBy>Bochna, Alexandra E.</cp:lastModifiedBy>
  <cp:revision>6</cp:revision>
  <cp:lastPrinted>2018-09-20T14:01:14Z</cp:lastPrinted>
  <dcterms:created xsi:type="dcterms:W3CDTF">2002-01-04T15:07:16Z</dcterms:created>
  <dcterms:modified xsi:type="dcterms:W3CDTF">2025-12-08T19:33:02Z</dcterms:modified>
</cp:coreProperties>
</file>